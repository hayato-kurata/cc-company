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1600200"/>
            <a:ext cx="7315200" cy="64008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6070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ワークショップ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44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マニュアル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指キーホルダーの作り方（材料・手順・安全）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▸  WS進行・受付の担当者向け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▸  手順どおりに進めれば、はじめてでも回せる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▸  集合〜撤収などの運用は別冊③『当日運用マニュアル』へ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355080"/>
            <a:ext cx="10607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⚠  </a:t>
            </a:r>
            <a:r>
              <a:rPr sz="14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アレルギー申告者にはWSを実施しない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41148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554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37160"/>
            <a:ext cx="96926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ワークショップの概要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メニュー＝自分の指の複製キーホルダーづくり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② ワークショップマニュアル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011679"/>
            <a:ext cx="2407843" cy="173736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2407843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3,000円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72968"/>
            <a:ext cx="240784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1回の料金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50843" y="2011679"/>
            <a:ext cx="2407843" cy="173736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50843" y="2331720"/>
            <a:ext cx="2407843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約20分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0843" y="3172968"/>
            <a:ext cx="240784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所要時間の目安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2011679"/>
            <a:ext cx="2407843" cy="173736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3007" y="2331720"/>
            <a:ext cx="2407843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最大6席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3007" y="3172968"/>
            <a:ext cx="240784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場所により変動・6席で十分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171" y="2011679"/>
            <a:ext cx="2407843" cy="173736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5171" y="2331720"/>
            <a:ext cx="2407843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1本ずつ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171" y="3172968"/>
            <a:ext cx="240784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同時に2本は不可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023360"/>
            <a:ext cx="10454335" cy="178308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18795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どんな体験？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663440"/>
            <a:ext cx="981425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5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お客さんの指の型を取り、エコフレックスで複製キーホルダーを作る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5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どの指でもOK／</a:t>
            </a:r>
            <a:r>
              <a:rPr sz="15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着色は行わない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・ </a:t>
            </a:r>
            <a:r>
              <a:rPr sz="14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WSのほか、イラスト・作品の物販も実施（物販の運用は別冊③）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446520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1/4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41148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554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37160"/>
            <a:ext cx="96926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材料・道具・席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1人あたりに使う材料と道具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② ワークショップマニュアル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965960"/>
            <a:ext cx="5212080" cy="393192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130552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1人分の材料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2651760"/>
            <a:ext cx="4663440" cy="914400"/>
          </a:xfrm>
          <a:prstGeom prst="roundRect">
            <a:avLst>
              <a:gd name="adj" fmla="val 9000"/>
            </a:avLst>
          </a:prstGeom>
          <a:solidFill>
            <a:srgbClr val="1E1E23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2651760"/>
            <a:ext cx="42976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かたと〜る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型取り用（真空脱泡して使う）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675887"/>
            <a:ext cx="4663440" cy="914400"/>
          </a:xfrm>
          <a:prstGeom prst="roundRect">
            <a:avLst>
              <a:gd name="adj" fmla="val 9000"/>
            </a:avLst>
          </a:prstGeom>
          <a:solidFill>
            <a:srgbClr val="1E1E23"/>
          </a:solidFill>
          <a:ln w="19050">
            <a:solidFill>
              <a:srgbClr val="B712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3675887"/>
            <a:ext cx="42976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エコフレックス35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A剤＋B剤を必ず同量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4700016"/>
            <a:ext cx="4663440" cy="914400"/>
          </a:xfrm>
          <a:prstGeom prst="roundRect">
            <a:avLst>
              <a:gd name="adj" fmla="val 9000"/>
            </a:avLst>
          </a:prstGeom>
          <a:solidFill>
            <a:srgbClr val="1E1E23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700016"/>
            <a:ext cx="42976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クリップ＋チェーンボール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1セット（型に設置）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1965960"/>
            <a:ext cx="4876495" cy="228600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2130552"/>
            <a:ext cx="4419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道具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606039"/>
            <a:ext cx="432785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・ 計量カップ／紙コップ（小）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・ 混ぜ棒（ハンドミキサー）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・ 真空脱泡機（かたと〜る用）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・ 爪楊枝／接着剤／タイマー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4434840"/>
            <a:ext cx="4876495" cy="146304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4599431"/>
            <a:ext cx="4419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席の運用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983479"/>
            <a:ext cx="43278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最大6席</a:t>
            </a: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（場所・イベントで変動。6席以上は不要）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整理券でタイムスロット運用（並ばせず時間に戻ってもらう）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46520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2/4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41148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554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37160"/>
            <a:ext cx="96926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ワークショップの進め方（受付〜完成）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受付から完成まで6ステップ。アイスブレイクは挟まず進める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② ワークショップマニュアル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920239"/>
            <a:ext cx="3301898" cy="169164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103120"/>
            <a:ext cx="28446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①  </a:t>
            </a:r>
            <a:r>
              <a:rPr sz="1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受付と誘導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70047"/>
            <a:ext cx="284469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普通に受付をして席へ誘導する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44898" y="1920239"/>
            <a:ext cx="3301898" cy="169164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3498" y="2103120"/>
            <a:ext cx="28446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②  </a:t>
            </a:r>
            <a:r>
              <a:rPr sz="1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準備と検討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2670047"/>
            <a:ext cx="284469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スタッフがかたと〜る（型取り材）を準備／その間にお客さんはどの指で作るか考える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1116" y="1920239"/>
            <a:ext cx="3301898" cy="1691640"/>
          </a:xfrm>
          <a:prstGeom prst="roundRect">
            <a:avLst>
              <a:gd name="adj" fmla="val 9000"/>
            </a:avLst>
          </a:prstGeom>
          <a:solidFill>
            <a:srgbClr val="1E1E23"/>
          </a:solidFill>
          <a:ln w="19050">
            <a:solidFill>
              <a:srgbClr val="B712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9716" y="2103120"/>
            <a:ext cx="28446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③  </a:t>
            </a:r>
            <a:r>
              <a:rPr sz="1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型取り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9716" y="2670047"/>
            <a:ext cx="284469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かたと〜るを真空脱泡機で気泡抜き → 容器に指を入れて型取り。どの指でもOK／同時2本は不可・1本ずつ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776472"/>
            <a:ext cx="3301898" cy="169164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959352"/>
            <a:ext cx="28446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④  </a:t>
            </a:r>
            <a:r>
              <a:rPr sz="1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成形（流し込み）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526280"/>
            <a:ext cx="284469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型が固まったら指を抜く → エコフレックスをA＋B同量で混ぜて型に流し込む（エコフレックスは脱泡しない）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4898" y="3776472"/>
            <a:ext cx="3301898" cy="169164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73498" y="3959352"/>
            <a:ext cx="28446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⑤  </a:t>
            </a:r>
            <a:r>
              <a:rPr sz="1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仕上げ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3498" y="4526280"/>
            <a:ext cx="284469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クリップ＋チェーンボールを型に設置 → 硬化を待つ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21116" y="3776472"/>
            <a:ext cx="3301898" cy="1691640"/>
          </a:xfrm>
          <a:prstGeom prst="roundRect">
            <a:avLst>
              <a:gd name="adj" fmla="val 9000"/>
            </a:avLst>
          </a:prstGeom>
          <a:solidFill>
            <a:srgbClr val="1E1E23"/>
          </a:solidFill>
          <a:ln w="19050">
            <a:solidFill>
              <a:srgbClr val="B712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9716" y="3959352"/>
            <a:ext cx="28446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⑥  </a:t>
            </a:r>
            <a:r>
              <a:rPr sz="1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完了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9716" y="4526280"/>
            <a:ext cx="284469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指（成形物）を取り出して完成。着色は行わない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632704"/>
            <a:ext cx="10454335" cy="548640"/>
          </a:xfrm>
          <a:prstGeom prst="roundRect">
            <a:avLst>
              <a:gd name="adj" fmla="val 12000"/>
            </a:avLst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632704"/>
            <a:ext cx="1045433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最後にアンケートの案内をして終了。着色なし／同時に2本は不可 に注意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446520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3/4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41148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15544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37160"/>
            <a:ext cx="96926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⚠ 安全・NG事項（必ず守る）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ここだけは絶対に守ること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8229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② ワークショップマニュアル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965960"/>
            <a:ext cx="4998567" cy="1280160"/>
          </a:xfrm>
          <a:prstGeom prst="roundRect">
            <a:avLst>
              <a:gd name="adj" fmla="val 9000"/>
            </a:avLst>
          </a:prstGeom>
          <a:solidFill>
            <a:srgbClr val="1E1E23"/>
          </a:solidFill>
          <a:ln w="19050">
            <a:solidFill>
              <a:srgbClr val="E6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965960"/>
            <a:ext cx="8229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167128"/>
            <a:ext cx="3809847" cy="9143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アレルギー申告者はお断り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ラテックス・シリコン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4447" y="1965960"/>
            <a:ext cx="4998567" cy="1280160"/>
          </a:xfrm>
          <a:prstGeom prst="roundRect">
            <a:avLst>
              <a:gd name="adj" fmla="val 9000"/>
            </a:avLst>
          </a:prstGeom>
          <a:solidFill>
            <a:srgbClr val="1E1E23"/>
          </a:solidFill>
          <a:ln w="19050">
            <a:solidFill>
              <a:srgbClr val="E6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1965960"/>
            <a:ext cx="8229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0287" y="2167128"/>
            <a:ext cx="3809847" cy="9143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A剤・B剤は必ず同量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比率ミスは未硬化の原因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447287"/>
            <a:ext cx="4998567" cy="128016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447287"/>
            <a:ext cx="8229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648456"/>
            <a:ext cx="3809847" cy="9143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材料を皮膚に放置しない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長時間つけたままNG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4447" y="3447287"/>
            <a:ext cx="4998567" cy="128016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3047" y="3447287"/>
            <a:ext cx="8229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0287" y="3648456"/>
            <a:ext cx="3809847" cy="9143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手順を勝手にアレンジしない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マニュアルどおりに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928616"/>
            <a:ext cx="4998567" cy="128016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928616"/>
            <a:ext cx="8229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5129783"/>
            <a:ext cx="3809847" cy="9143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動画撮影は許可を取ってから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参加者の同意必須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24447" y="4928616"/>
            <a:ext cx="4998567" cy="1280160"/>
          </a:xfrm>
          <a:prstGeom prst="roundRect">
            <a:avLst>
              <a:gd name="adj" fmla="val 9000"/>
            </a:avLst>
          </a:prstGeom>
          <a:solidFill>
            <a:srgbClr val="16161A"/>
          </a:solidFill>
          <a:ln w="12700">
            <a:solidFill>
              <a:srgbClr val="4015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047" y="4928616"/>
            <a:ext cx="8229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0287" y="5129783"/>
            <a:ext cx="3809847" cy="9143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苦手・不調の素振りは即中断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無理させない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446520"/>
            <a:ext cx="12801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4/4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