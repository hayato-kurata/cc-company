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B7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68680" y="1600200"/>
            <a:ext cx="6858000" cy="64008"/>
          </a:xfrm>
          <a:prstGeom prst="rect">
            <a:avLst/>
          </a:prstGeom>
          <a:solidFill>
            <a:srgbClr val="B7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104241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440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指づくりワークショップ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440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スタッフマニュアル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977639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はじめてのスタッフ向け 完全ガイド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66344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▸  ピエロ大好き人間（@I_LOVE_Clown）× Steenz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▸  自分の指の複製キーホルダーづくり ワークショップ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▸  このスライドを読めば、はじめてでも当日動けます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6355080"/>
            <a:ext cx="104241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⚠  </a:t>
            </a:r>
            <a:r>
              <a:rPr sz="140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迷ったら「進行統括」に聞けばOK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80160"/>
            <a:ext cx="12191695" cy="41148"/>
          </a:xfrm>
          <a:prstGeom prst="rect">
            <a:avLst/>
          </a:prstGeom>
          <a:solidFill>
            <a:srgbClr val="B7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37160"/>
            <a:ext cx="137160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3800" b="1">
                <a:solidFill>
                  <a:srgbClr val="B7121C"/>
                </a:solidFill>
                <a:latin typeface="Yu Gothic UI"/>
                <a:ea typeface="Yu Gothic UI"/>
                <a:cs typeface="Yu Gothic UI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83080" y="137160"/>
            <a:ext cx="987552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70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このイベントって何をするの？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41732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お客さんが「自分の指のキーホルダー」を作る体験ワークショップ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6446520"/>
            <a:ext cx="82296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指づくりWS スタッフマニュアル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2011679"/>
            <a:ext cx="2407843" cy="1737360"/>
          </a:xfrm>
          <a:prstGeom prst="roundRect">
            <a:avLst>
              <a:gd name="adj" fmla="val 9000"/>
            </a:avLst>
          </a:prstGeom>
          <a:solidFill>
            <a:srgbClr val="16161A"/>
          </a:solidFill>
          <a:ln w="12700">
            <a:solidFill>
              <a:srgbClr val="401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286000"/>
            <a:ext cx="2407843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30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3,000円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200400"/>
            <a:ext cx="2407843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1回の料金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50843" y="2011679"/>
            <a:ext cx="2407843" cy="1737360"/>
          </a:xfrm>
          <a:prstGeom prst="roundRect">
            <a:avLst>
              <a:gd name="adj" fmla="val 9000"/>
            </a:avLst>
          </a:prstGeom>
          <a:solidFill>
            <a:srgbClr val="16161A"/>
          </a:solidFill>
          <a:ln w="12700">
            <a:solidFill>
              <a:srgbClr val="401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50843" y="2286000"/>
            <a:ext cx="2407843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30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約20分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50843" y="3200400"/>
            <a:ext cx="2407843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所要時間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3007" y="2011679"/>
            <a:ext cx="2407843" cy="1737360"/>
          </a:xfrm>
          <a:prstGeom prst="roundRect">
            <a:avLst>
              <a:gd name="adj" fmla="val 9000"/>
            </a:avLst>
          </a:prstGeom>
          <a:solidFill>
            <a:srgbClr val="16161A"/>
          </a:solidFill>
          <a:ln w="12700">
            <a:solidFill>
              <a:srgbClr val="401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33007" y="2286000"/>
            <a:ext cx="2407843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30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6席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33007" y="3200400"/>
            <a:ext cx="2407843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180cm×2台・各3席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15171" y="2011679"/>
            <a:ext cx="2407843" cy="1737360"/>
          </a:xfrm>
          <a:prstGeom prst="roundRect">
            <a:avLst>
              <a:gd name="adj" fmla="val 9000"/>
            </a:avLst>
          </a:prstGeom>
          <a:solidFill>
            <a:srgbClr val="16161A"/>
          </a:solidFill>
          <a:ln w="12700">
            <a:solidFill>
              <a:srgbClr val="401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5171" y="2286000"/>
            <a:ext cx="2407843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30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＋講師席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15171" y="3200400"/>
            <a:ext cx="2407843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講師1席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68680" y="4023360"/>
            <a:ext cx="10454335" cy="1691640"/>
          </a:xfrm>
          <a:prstGeom prst="roundRect">
            <a:avLst>
              <a:gd name="adj" fmla="val 9000"/>
            </a:avLst>
          </a:prstGeom>
          <a:solidFill>
            <a:srgbClr val="16161A"/>
          </a:solidFill>
          <a:ln w="12700">
            <a:solidFill>
              <a:srgbClr val="401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7280" y="4187952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スタッフのメイン業務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8720" y="4709160"/>
            <a:ext cx="981425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① </a:t>
            </a:r>
            <a:r>
              <a:rPr sz="170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ワークショップの運営</a:t>
            </a:r>
            <a:r>
              <a:rPr sz="15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（WS進行・受付）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② </a:t>
            </a:r>
            <a:r>
              <a:rPr sz="170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お客さんへの声かけ・集客</a:t>
            </a:r>
            <a:r>
              <a:rPr sz="15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（手が空いたら大きな声で）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349240"/>
            <a:ext cx="98142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主力イベント：デザインフェスタ／ニコニコ超会議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24160" y="6446520"/>
            <a:ext cx="128016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1/13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80160"/>
            <a:ext cx="12191695" cy="41148"/>
          </a:xfrm>
          <a:prstGeom prst="rect">
            <a:avLst/>
          </a:prstGeom>
          <a:solidFill>
            <a:srgbClr val="B7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37160"/>
            <a:ext cx="137160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3800" b="1">
                <a:solidFill>
                  <a:srgbClr val="B7121C"/>
                </a:solidFill>
                <a:latin typeface="Yu Gothic UI"/>
                <a:ea typeface="Yu Gothic UI"/>
                <a:cs typeface="Yu Gothic UI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83080" y="137160"/>
            <a:ext cx="987552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70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当日の1日の流れ（集合〜撤収）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41732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10:00開場の場合の目安。実際の時刻は朝礼で共有します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6446520"/>
            <a:ext cx="82296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指づくりWS スタッフマニュアル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1965960"/>
            <a:ext cx="3240938" cy="3931920"/>
          </a:xfrm>
          <a:prstGeom prst="roundRect">
            <a:avLst>
              <a:gd name="adj" fmla="val 9000"/>
            </a:avLst>
          </a:prstGeom>
          <a:solidFill>
            <a:srgbClr val="16161A"/>
          </a:solidFill>
          <a:ln w="12700">
            <a:solidFill>
              <a:srgbClr val="401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68680" y="1965960"/>
            <a:ext cx="3240938" cy="548640"/>
          </a:xfrm>
          <a:prstGeom prst="roundRect">
            <a:avLst>
              <a:gd name="adj" fmla="val 12000"/>
            </a:avLst>
          </a:prstGeom>
          <a:solidFill>
            <a:srgbClr val="B7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993391"/>
            <a:ext cx="3240938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開場前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743200"/>
            <a:ext cx="2738018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4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▌ </a:t>
            </a:r>
            <a:r>
              <a:rPr sz="140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集合・点呼（証類を忘れずに）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4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▌ </a:t>
            </a:r>
            <a:r>
              <a:rPr sz="140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搬入 → ブース設営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4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▌ </a:t>
            </a:r>
            <a:r>
              <a:rPr sz="140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釣り銭・WS道具の準備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4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▌ </a:t>
            </a:r>
            <a:r>
              <a:rPr sz="140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朝礼（最終ブリーフィング）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75378" y="1965960"/>
            <a:ext cx="3240938" cy="3931920"/>
          </a:xfrm>
          <a:prstGeom prst="roundRect">
            <a:avLst>
              <a:gd name="adj" fmla="val 9000"/>
            </a:avLst>
          </a:prstGeom>
          <a:solidFill>
            <a:srgbClr val="16161A"/>
          </a:solidFill>
          <a:ln w="12700">
            <a:solidFill>
              <a:srgbClr val="401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475378" y="1965960"/>
            <a:ext cx="3240938" cy="548640"/>
          </a:xfrm>
          <a:prstGeom prst="roundRect">
            <a:avLst>
              <a:gd name="adj" fmla="val 12000"/>
            </a:avLst>
          </a:prstGeom>
          <a:solidFill>
            <a:srgbClr val="B7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75378" y="1993391"/>
            <a:ext cx="3240938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開場中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49698" y="2743200"/>
            <a:ext cx="2738018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4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▌ </a:t>
            </a:r>
            <a:r>
              <a:rPr sz="140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接客・WS進行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4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▌ </a:t>
            </a:r>
            <a:r>
              <a:rPr sz="140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物販・呼び込み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4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▌ </a:t>
            </a:r>
            <a:r>
              <a:rPr sz="140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予約客を優先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4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▌ </a:t>
            </a:r>
            <a:r>
              <a:rPr sz="140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昼休憩は交代で（同時はNG）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82076" y="1965960"/>
            <a:ext cx="3240938" cy="3931920"/>
          </a:xfrm>
          <a:prstGeom prst="roundRect">
            <a:avLst>
              <a:gd name="adj" fmla="val 9000"/>
            </a:avLst>
          </a:prstGeom>
          <a:solidFill>
            <a:srgbClr val="16161A"/>
          </a:solidFill>
          <a:ln w="12700">
            <a:solidFill>
              <a:srgbClr val="401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082076" y="1965960"/>
            <a:ext cx="3240938" cy="548640"/>
          </a:xfrm>
          <a:prstGeom prst="roundRect">
            <a:avLst>
              <a:gd name="adj" fmla="val 12000"/>
            </a:avLst>
          </a:prstGeom>
          <a:solidFill>
            <a:srgbClr val="B7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82076" y="1993391"/>
            <a:ext cx="3240938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閉場後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56396" y="2743200"/>
            <a:ext cx="2738018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4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▌ </a:t>
            </a:r>
            <a:r>
              <a:rPr sz="140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撤収・ブース掃除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4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▌ </a:t>
            </a:r>
            <a:r>
              <a:rPr sz="140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売上集計（2人で）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4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▌ </a:t>
            </a:r>
            <a:r>
              <a:rPr sz="140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搬出（レンタカー）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4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▌ </a:t>
            </a:r>
            <a:r>
              <a:rPr sz="140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振り返り・解散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6446520"/>
            <a:ext cx="128016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2/13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80160"/>
            <a:ext cx="12191695" cy="41148"/>
          </a:xfrm>
          <a:prstGeom prst="rect">
            <a:avLst/>
          </a:prstGeom>
          <a:solidFill>
            <a:srgbClr val="B7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37160"/>
            <a:ext cx="137160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3800" b="1">
                <a:solidFill>
                  <a:srgbClr val="B7121C"/>
                </a:solidFill>
                <a:latin typeface="Yu Gothic UI"/>
                <a:ea typeface="Yu Gothic UI"/>
                <a:cs typeface="Yu Gothic UI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83080" y="137160"/>
            <a:ext cx="987552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70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開場前にやること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41732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開場までの準備の要点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6446520"/>
            <a:ext cx="82296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指づくりWS スタッフマニュアル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1965960"/>
            <a:ext cx="4998567" cy="1280160"/>
          </a:xfrm>
          <a:prstGeom prst="roundRect">
            <a:avLst>
              <a:gd name="adj" fmla="val 9000"/>
            </a:avLst>
          </a:prstGeom>
          <a:solidFill>
            <a:srgbClr val="16161A"/>
          </a:solidFill>
          <a:ln w="12700">
            <a:solidFill>
              <a:srgbClr val="401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1965960"/>
            <a:ext cx="100584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34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2167128"/>
            <a:ext cx="3626967" cy="9143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なるべくまとまって入場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バラバラだと時間がかかる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24447" y="1965960"/>
            <a:ext cx="4998567" cy="1280160"/>
          </a:xfrm>
          <a:prstGeom prst="roundRect">
            <a:avLst>
              <a:gd name="adj" fmla="val 9000"/>
            </a:avLst>
          </a:prstGeom>
          <a:solidFill>
            <a:srgbClr val="16161A"/>
          </a:solidFill>
          <a:ln w="12700">
            <a:solidFill>
              <a:srgbClr val="401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1965960"/>
            <a:ext cx="100584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34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13167" y="2167128"/>
            <a:ext cx="3626967" cy="9143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設営は進行統括の指示で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勝手に動かない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8680" y="3474720"/>
            <a:ext cx="4998567" cy="1280160"/>
          </a:xfrm>
          <a:prstGeom prst="roundRect">
            <a:avLst>
              <a:gd name="adj" fmla="val 9000"/>
            </a:avLst>
          </a:prstGeom>
          <a:solidFill>
            <a:srgbClr val="1E1E23"/>
          </a:solidFill>
          <a:ln w="19050">
            <a:solidFill>
              <a:srgbClr val="B712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3474720"/>
            <a:ext cx="100584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34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3675887"/>
            <a:ext cx="3626967" cy="9143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釣り銭3〜4万円を2人で確認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1人では数えない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24447" y="3474720"/>
            <a:ext cx="4998567" cy="1280160"/>
          </a:xfrm>
          <a:prstGeom prst="roundRect">
            <a:avLst>
              <a:gd name="adj" fmla="val 9000"/>
            </a:avLst>
          </a:prstGeom>
          <a:solidFill>
            <a:srgbClr val="16161A"/>
          </a:solidFill>
          <a:ln w="12700">
            <a:solidFill>
              <a:srgbClr val="401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53047" y="3474720"/>
            <a:ext cx="100584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34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13167" y="3675887"/>
            <a:ext cx="3626967" cy="9143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PayPay用QRコードを設置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現金＋PayPayのみ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68680" y="4983479"/>
            <a:ext cx="4998567" cy="1280160"/>
          </a:xfrm>
          <a:prstGeom prst="roundRect">
            <a:avLst>
              <a:gd name="adj" fmla="val 9000"/>
            </a:avLst>
          </a:prstGeom>
          <a:solidFill>
            <a:srgbClr val="16161A"/>
          </a:solidFill>
          <a:ln w="12700">
            <a:solidFill>
              <a:srgbClr val="401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7280" y="4983479"/>
            <a:ext cx="100584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34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57400" y="5184647"/>
            <a:ext cx="3626967" cy="9143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初参加スタッフは1回練習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通しで制作してみる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24447" y="4983479"/>
            <a:ext cx="4998567" cy="1280160"/>
          </a:xfrm>
          <a:prstGeom prst="roundRect">
            <a:avLst>
              <a:gd name="adj" fmla="val 9000"/>
            </a:avLst>
          </a:prstGeom>
          <a:solidFill>
            <a:srgbClr val="16161A"/>
          </a:solidFill>
          <a:ln w="12700">
            <a:solidFill>
              <a:srgbClr val="401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53047" y="4983479"/>
            <a:ext cx="100584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34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13167" y="5184647"/>
            <a:ext cx="3626967" cy="9143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朝礼で最終確認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役割・動線・休憩・緊急時・SNS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24160" y="6446520"/>
            <a:ext cx="128016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3/13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80160"/>
            <a:ext cx="12191695" cy="41148"/>
          </a:xfrm>
          <a:prstGeom prst="rect">
            <a:avLst/>
          </a:prstGeom>
          <a:solidFill>
            <a:srgbClr val="B7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37160"/>
            <a:ext cx="137160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3800" b="1">
                <a:solidFill>
                  <a:srgbClr val="B7121C"/>
                </a:solidFill>
                <a:latin typeface="Yu Gothic UI"/>
                <a:ea typeface="Yu Gothic UI"/>
                <a:cs typeface="Yu Gothic UI"/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83080" y="137160"/>
            <a:ext cx="987552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70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ワークショップの作り方①（材料・道具・席）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41732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1人あたりに使う材料と道具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6446520"/>
            <a:ext cx="82296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指づくりWS スタッフマニュアル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1965960"/>
            <a:ext cx="5212080" cy="3931920"/>
          </a:xfrm>
          <a:prstGeom prst="roundRect">
            <a:avLst>
              <a:gd name="adj" fmla="val 9000"/>
            </a:avLst>
          </a:prstGeom>
          <a:solidFill>
            <a:srgbClr val="16161A"/>
          </a:solidFill>
          <a:ln w="12700">
            <a:solidFill>
              <a:srgbClr val="401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130552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1人分の材料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2651760"/>
            <a:ext cx="4663440" cy="914400"/>
          </a:xfrm>
          <a:prstGeom prst="roundRect">
            <a:avLst>
              <a:gd name="adj" fmla="val 9000"/>
            </a:avLst>
          </a:prstGeom>
          <a:solidFill>
            <a:srgbClr val="1E1E23"/>
          </a:solidFill>
          <a:ln w="12700">
            <a:solidFill>
              <a:srgbClr val="401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2651760"/>
            <a:ext cx="429768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かたと〜る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20g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3675887"/>
            <a:ext cx="4663440" cy="914400"/>
          </a:xfrm>
          <a:prstGeom prst="roundRect">
            <a:avLst>
              <a:gd name="adj" fmla="val 9000"/>
            </a:avLst>
          </a:prstGeom>
          <a:solidFill>
            <a:srgbClr val="1E1E23"/>
          </a:solidFill>
          <a:ln w="19050">
            <a:solidFill>
              <a:srgbClr val="B712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600" y="3675887"/>
            <a:ext cx="429768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エコフレックス35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A剤10g＋B剤10g（同量！）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43000" y="4700016"/>
            <a:ext cx="4663440" cy="914400"/>
          </a:xfrm>
          <a:prstGeom prst="roundRect">
            <a:avLst>
              <a:gd name="adj" fmla="val 9000"/>
            </a:avLst>
          </a:prstGeom>
          <a:solidFill>
            <a:srgbClr val="1E1E23"/>
          </a:solidFill>
          <a:ln w="12700">
            <a:solidFill>
              <a:srgbClr val="401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71600" y="4700016"/>
            <a:ext cx="429768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キーホルダー金具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1個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46520" y="1965960"/>
            <a:ext cx="4876495" cy="2286000"/>
          </a:xfrm>
          <a:prstGeom prst="roundRect">
            <a:avLst>
              <a:gd name="adj" fmla="val 9000"/>
            </a:avLst>
          </a:prstGeom>
          <a:solidFill>
            <a:srgbClr val="16161A"/>
          </a:solidFill>
          <a:ln w="12700">
            <a:solidFill>
              <a:srgbClr val="401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0" y="2130552"/>
            <a:ext cx="44192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道具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20840" y="2606039"/>
            <a:ext cx="4327855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・ 計量カップ／紙コップ（小）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・ 混ぜ棒（ハンドミキサー）／振動機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・ 爪楊枝／絵具・筆・パレット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・ 接着剤／タイマー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46520" y="4434840"/>
            <a:ext cx="4876495" cy="1463040"/>
          </a:xfrm>
          <a:prstGeom prst="roundRect">
            <a:avLst>
              <a:gd name="adj" fmla="val 9000"/>
            </a:avLst>
          </a:prstGeom>
          <a:solidFill>
            <a:srgbClr val="16161A"/>
          </a:solidFill>
          <a:ln w="12700">
            <a:solidFill>
              <a:srgbClr val="401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75120" y="4599431"/>
            <a:ext cx="44192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席の運用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0840" y="4983479"/>
            <a:ext cx="432785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6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6席で確定</a:t>
            </a:r>
            <a:r>
              <a:rPr sz="13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（180cm×2台・各3席）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整理券でタイムスロット運用（並ばせず時間に戻ってもらう）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24160" y="6446520"/>
            <a:ext cx="128016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4/13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80160"/>
            <a:ext cx="12191695" cy="41148"/>
          </a:xfrm>
          <a:prstGeom prst="rect">
            <a:avLst/>
          </a:prstGeom>
          <a:solidFill>
            <a:srgbClr val="B7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37160"/>
            <a:ext cx="137160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3800" b="1">
                <a:solidFill>
                  <a:srgbClr val="B7121C"/>
                </a:solidFill>
                <a:latin typeface="Yu Gothic UI"/>
                <a:ea typeface="Yu Gothic UI"/>
                <a:cs typeface="Yu Gothic UI"/>
              </a:rP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83080" y="137160"/>
            <a:ext cx="987552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70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ワークショップの進め方②（20分台本）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41732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台本通りに進めれば、はじめてでも20分で回せる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6446520"/>
            <a:ext cx="82296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指づくりWS スタッフマニュアル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2240279"/>
            <a:ext cx="1907987" cy="3840480"/>
          </a:xfrm>
          <a:prstGeom prst="roundRect">
            <a:avLst>
              <a:gd name="adj" fmla="val 9000"/>
            </a:avLst>
          </a:prstGeom>
          <a:solidFill>
            <a:srgbClr val="16161A"/>
          </a:solidFill>
          <a:ln w="12700">
            <a:solidFill>
              <a:srgbClr val="401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005839" y="2423160"/>
            <a:ext cx="1633667" cy="502920"/>
          </a:xfrm>
          <a:prstGeom prst="roundRect">
            <a:avLst>
              <a:gd name="adj" fmla="val 18000"/>
            </a:avLst>
          </a:prstGeom>
          <a:solidFill>
            <a:srgbClr val="B7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450591"/>
            <a:ext cx="1907987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0-2分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39" y="3154679"/>
            <a:ext cx="1633667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受付・アイスブレイク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39" y="4069079"/>
            <a:ext cx="1633667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アレルギー確認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（ラテックス・シリコン）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58379" y="2423160"/>
            <a:ext cx="2743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2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005267" y="2240279"/>
            <a:ext cx="1907987" cy="3840480"/>
          </a:xfrm>
          <a:prstGeom prst="roundRect">
            <a:avLst>
              <a:gd name="adj" fmla="val 9000"/>
            </a:avLst>
          </a:prstGeom>
          <a:solidFill>
            <a:srgbClr val="16161A"/>
          </a:solidFill>
          <a:ln w="12700">
            <a:solidFill>
              <a:srgbClr val="401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142427" y="2423160"/>
            <a:ext cx="1633667" cy="502920"/>
          </a:xfrm>
          <a:prstGeom prst="roundRect">
            <a:avLst>
              <a:gd name="adj" fmla="val 18000"/>
            </a:avLst>
          </a:prstGeom>
          <a:solidFill>
            <a:srgbClr val="B7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05267" y="2450591"/>
            <a:ext cx="1907987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2-7分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42427" y="3154679"/>
            <a:ext cx="1633667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型取り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42427" y="4069079"/>
            <a:ext cx="1633667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かたと〜るで型取り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硬化10分は会話で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94966" y="2423160"/>
            <a:ext cx="2743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2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41854" y="2240279"/>
            <a:ext cx="1907987" cy="3840480"/>
          </a:xfrm>
          <a:prstGeom prst="roundRect">
            <a:avLst>
              <a:gd name="adj" fmla="val 9000"/>
            </a:avLst>
          </a:prstGeom>
          <a:solidFill>
            <a:srgbClr val="16161A"/>
          </a:solidFill>
          <a:ln w="12700">
            <a:solidFill>
              <a:srgbClr val="401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279014" y="2423160"/>
            <a:ext cx="1633667" cy="502920"/>
          </a:xfrm>
          <a:prstGeom prst="roundRect">
            <a:avLst>
              <a:gd name="adj" fmla="val 18000"/>
            </a:avLst>
          </a:prstGeom>
          <a:solidFill>
            <a:srgbClr val="B7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41854" y="2450591"/>
            <a:ext cx="1907987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7-12分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79014" y="3154679"/>
            <a:ext cx="1633667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流し込み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79014" y="4069079"/>
            <a:ext cx="1633667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A＋Bを同量で混合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気泡抜き→流す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31553" y="2423160"/>
            <a:ext cx="2743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2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›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278441" y="2240279"/>
            <a:ext cx="1907987" cy="3840480"/>
          </a:xfrm>
          <a:prstGeom prst="roundRect">
            <a:avLst>
              <a:gd name="adj" fmla="val 9000"/>
            </a:avLst>
          </a:prstGeom>
          <a:solidFill>
            <a:srgbClr val="16161A"/>
          </a:solidFill>
          <a:ln w="12700">
            <a:solidFill>
              <a:srgbClr val="401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7415601" y="2423160"/>
            <a:ext cx="1633667" cy="502920"/>
          </a:xfrm>
          <a:prstGeom prst="roundRect">
            <a:avLst>
              <a:gd name="adj" fmla="val 18000"/>
            </a:avLst>
          </a:prstGeom>
          <a:solidFill>
            <a:srgbClr val="B7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78441" y="2450591"/>
            <a:ext cx="1907987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12-17分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15601" y="3154679"/>
            <a:ext cx="1633667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着色・仕上げ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15601" y="4069079"/>
            <a:ext cx="1633667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ノーマル／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ちょいグロ／ガチグロ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8140" y="2423160"/>
            <a:ext cx="2743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2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›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415028" y="2240279"/>
            <a:ext cx="1907987" cy="3840480"/>
          </a:xfrm>
          <a:prstGeom prst="roundRect">
            <a:avLst>
              <a:gd name="adj" fmla="val 9000"/>
            </a:avLst>
          </a:prstGeom>
          <a:solidFill>
            <a:srgbClr val="16161A"/>
          </a:solidFill>
          <a:ln w="12700">
            <a:solidFill>
              <a:srgbClr val="401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9552188" y="2423160"/>
            <a:ext cx="1633667" cy="502920"/>
          </a:xfrm>
          <a:prstGeom prst="roundRect">
            <a:avLst>
              <a:gd name="adj" fmla="val 18000"/>
            </a:avLst>
          </a:prstGeom>
          <a:solidFill>
            <a:srgbClr val="B7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415028" y="2450591"/>
            <a:ext cx="1907987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17-20分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52188" y="3154679"/>
            <a:ext cx="1633667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金具・お見送り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552188" y="4069079"/>
            <a:ext cx="1633667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撮影・SNS／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アンケート案内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24160" y="6446520"/>
            <a:ext cx="128016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5/13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80160"/>
            <a:ext cx="12191695" cy="41148"/>
          </a:xfrm>
          <a:prstGeom prst="rect">
            <a:avLst/>
          </a:prstGeom>
          <a:solidFill>
            <a:srgbClr val="B7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37160"/>
            <a:ext cx="137160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3800" b="1">
                <a:solidFill>
                  <a:srgbClr val="B7121C"/>
                </a:solidFill>
                <a:latin typeface="Yu Gothic UI"/>
                <a:ea typeface="Yu Gothic UI"/>
                <a:cs typeface="Yu Gothic UI"/>
              </a:rPr>
              <a:t>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83080" y="137160"/>
            <a:ext cx="987552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70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⚠ 安全・NG事項（必ず守る）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41732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ここだけは絶対に守ること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6446520"/>
            <a:ext cx="82296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指づくりWS スタッフマニュアル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1965960"/>
            <a:ext cx="4998567" cy="1280160"/>
          </a:xfrm>
          <a:prstGeom prst="roundRect">
            <a:avLst>
              <a:gd name="adj" fmla="val 9000"/>
            </a:avLst>
          </a:prstGeom>
          <a:solidFill>
            <a:srgbClr val="1E1E23"/>
          </a:solidFill>
          <a:ln w="19050">
            <a:solidFill>
              <a:srgbClr val="E6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1965960"/>
            <a:ext cx="82296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6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167128"/>
            <a:ext cx="3809847" cy="9143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アレルギー申告者はお断り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ラテックス・シリコン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24447" y="1965960"/>
            <a:ext cx="4998567" cy="1280160"/>
          </a:xfrm>
          <a:prstGeom prst="roundRect">
            <a:avLst>
              <a:gd name="adj" fmla="val 9000"/>
            </a:avLst>
          </a:prstGeom>
          <a:solidFill>
            <a:srgbClr val="1E1E23"/>
          </a:solidFill>
          <a:ln w="19050">
            <a:solidFill>
              <a:srgbClr val="E6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1965960"/>
            <a:ext cx="82296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6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30287" y="2167128"/>
            <a:ext cx="3809847" cy="9143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A剤・B剤は必ず同量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比率ミスは未硬化の原因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8680" y="3447287"/>
            <a:ext cx="4998567" cy="1280160"/>
          </a:xfrm>
          <a:prstGeom prst="roundRect">
            <a:avLst>
              <a:gd name="adj" fmla="val 9000"/>
            </a:avLst>
          </a:prstGeom>
          <a:solidFill>
            <a:srgbClr val="16161A"/>
          </a:solidFill>
          <a:ln w="12700">
            <a:solidFill>
              <a:srgbClr val="401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3447287"/>
            <a:ext cx="82296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6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3648456"/>
            <a:ext cx="3809847" cy="9143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材料を皮膚に放置しない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長時間つけたままNG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24447" y="3447287"/>
            <a:ext cx="4998567" cy="1280160"/>
          </a:xfrm>
          <a:prstGeom prst="roundRect">
            <a:avLst>
              <a:gd name="adj" fmla="val 9000"/>
            </a:avLst>
          </a:prstGeom>
          <a:solidFill>
            <a:srgbClr val="16161A"/>
          </a:solidFill>
          <a:ln w="12700">
            <a:solidFill>
              <a:srgbClr val="401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53047" y="3447287"/>
            <a:ext cx="82296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6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30287" y="3648456"/>
            <a:ext cx="3809847" cy="9143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手順を勝手にアレンジしない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台本どおりに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68680" y="4928616"/>
            <a:ext cx="4998567" cy="1280160"/>
          </a:xfrm>
          <a:prstGeom prst="roundRect">
            <a:avLst>
              <a:gd name="adj" fmla="val 9000"/>
            </a:avLst>
          </a:prstGeom>
          <a:solidFill>
            <a:srgbClr val="16161A"/>
          </a:solidFill>
          <a:ln w="12700">
            <a:solidFill>
              <a:srgbClr val="401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7280" y="4928616"/>
            <a:ext cx="82296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6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129783"/>
            <a:ext cx="3809847" cy="9143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動画撮影は許可を取ってから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参加者の同意必須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24447" y="4928616"/>
            <a:ext cx="4998567" cy="1280160"/>
          </a:xfrm>
          <a:prstGeom prst="roundRect">
            <a:avLst>
              <a:gd name="adj" fmla="val 9000"/>
            </a:avLst>
          </a:prstGeom>
          <a:solidFill>
            <a:srgbClr val="16161A"/>
          </a:solidFill>
          <a:ln w="12700">
            <a:solidFill>
              <a:srgbClr val="401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53047" y="4928616"/>
            <a:ext cx="82296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6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30287" y="5129783"/>
            <a:ext cx="3809847" cy="9143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苦手・不調の素振りは即中断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無理させない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24160" y="6446520"/>
            <a:ext cx="128016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6/13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80160"/>
            <a:ext cx="12191695" cy="41148"/>
          </a:xfrm>
          <a:prstGeom prst="rect">
            <a:avLst/>
          </a:prstGeom>
          <a:solidFill>
            <a:srgbClr val="B7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37160"/>
            <a:ext cx="137160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3800" b="1">
                <a:solidFill>
                  <a:srgbClr val="B7121C"/>
                </a:solidFill>
                <a:latin typeface="Yu Gothic UI"/>
                <a:ea typeface="Yu Gothic UI"/>
                <a:cs typeface="Yu Gothic UI"/>
              </a:rPr>
              <a:t>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83080" y="137160"/>
            <a:ext cx="987552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70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接客・呼び込みトーク例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41732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そのまま使える声かけのことば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6446520"/>
            <a:ext cx="82296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指づくりWS スタッフマニュアル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2011679"/>
            <a:ext cx="10454335" cy="1325880"/>
          </a:xfrm>
          <a:prstGeom prst="roundRect">
            <a:avLst>
              <a:gd name="adj" fmla="val 9000"/>
            </a:avLst>
          </a:prstGeom>
          <a:solidFill>
            <a:srgbClr val="16161A"/>
          </a:solidFill>
          <a:ln w="12700">
            <a:solidFill>
              <a:srgbClr val="401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097280" y="2240279"/>
            <a:ext cx="2377440" cy="502920"/>
          </a:xfrm>
          <a:prstGeom prst="roundRect">
            <a:avLst>
              <a:gd name="adj" fmla="val 18000"/>
            </a:avLst>
          </a:prstGeom>
          <a:solidFill>
            <a:srgbClr val="B7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267711"/>
            <a:ext cx="2377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呼び込み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2194560"/>
            <a:ext cx="7345375" cy="9601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「ちょいグロな“自分の指のキーホルダー”作れまーす！」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「20分でできます！」　※通路を妨げない位置で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" y="3566159"/>
            <a:ext cx="10454335" cy="1325880"/>
          </a:xfrm>
          <a:prstGeom prst="roundRect">
            <a:avLst>
              <a:gd name="adj" fmla="val 9000"/>
            </a:avLst>
          </a:prstGeom>
          <a:solidFill>
            <a:srgbClr val="16161A"/>
          </a:solidFill>
          <a:ln w="12700">
            <a:solidFill>
              <a:srgbClr val="401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97280" y="3794759"/>
            <a:ext cx="2377440" cy="502920"/>
          </a:xfrm>
          <a:prstGeom prst="roundRect">
            <a:avLst>
              <a:gd name="adj" fmla="val 18000"/>
            </a:avLst>
          </a:prstGeom>
          <a:solidFill>
            <a:srgbClr val="B7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822191"/>
            <a:ext cx="2377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硬化待ちの会話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39" y="3749039"/>
            <a:ext cx="7345375" cy="9601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作家（@I_LOVE_Clown）の紹介、人気作の話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お客さんの指輪・ネイル・推し趣味から広げる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" y="5120640"/>
            <a:ext cx="10454335" cy="1325880"/>
          </a:xfrm>
          <a:prstGeom prst="roundRect">
            <a:avLst>
              <a:gd name="adj" fmla="val 9000"/>
            </a:avLst>
          </a:prstGeom>
          <a:solidFill>
            <a:srgbClr val="16161A"/>
          </a:solidFill>
          <a:ln w="12700">
            <a:solidFill>
              <a:srgbClr val="401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97280" y="5349240"/>
            <a:ext cx="2377440" cy="502920"/>
          </a:xfrm>
          <a:prstGeom prst="roundRect">
            <a:avLst>
              <a:gd name="adj" fmla="val 18000"/>
            </a:avLst>
          </a:prstGeom>
          <a:solidFill>
            <a:srgbClr val="B7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5376672"/>
            <a:ext cx="2377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会計時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49039" y="5303520"/>
            <a:ext cx="7345375" cy="9601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「お支払いは現金かPayPayです（カード不可）」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「領収書いりますか？」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6446520"/>
            <a:ext cx="128016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7/13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80160"/>
            <a:ext cx="12191695" cy="41148"/>
          </a:xfrm>
          <a:prstGeom prst="rect">
            <a:avLst/>
          </a:prstGeom>
          <a:solidFill>
            <a:srgbClr val="B7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37160"/>
            <a:ext cx="137160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3800" b="1">
                <a:solidFill>
                  <a:srgbClr val="B7121C"/>
                </a:solidFill>
                <a:latin typeface="Yu Gothic UI"/>
                <a:ea typeface="Yu Gothic UI"/>
                <a:cs typeface="Yu Gothic UI"/>
              </a:rPr>
              <a:t>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83080" y="137160"/>
            <a:ext cx="987552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70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受付・会計のルール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41732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お金まわりは特に慎重に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6446520"/>
            <a:ext cx="82296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指づくりWS スタッフマニュアル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1965960"/>
            <a:ext cx="10454335" cy="1554480"/>
          </a:xfrm>
          <a:prstGeom prst="roundRect">
            <a:avLst>
              <a:gd name="adj" fmla="val 9000"/>
            </a:avLst>
          </a:prstGeom>
          <a:solidFill>
            <a:srgbClr val="1E1E23"/>
          </a:solidFill>
          <a:ln w="25400">
            <a:solidFill>
              <a:srgbClr val="E6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1965960"/>
            <a:ext cx="109728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340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0" y="2148839"/>
            <a:ext cx="880841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現金は最初と最後に Steenzスタッフ2人で確認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1人では絶対に数えない → 確認額は収益シートに記録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3749039"/>
            <a:ext cx="4998567" cy="566928"/>
          </a:xfrm>
          <a:prstGeom prst="roundRect">
            <a:avLst>
              <a:gd name="adj" fmla="val 9000"/>
            </a:avLst>
          </a:prstGeom>
          <a:solidFill>
            <a:srgbClr val="16161A"/>
          </a:solidFill>
          <a:ln w="12700">
            <a:solidFill>
              <a:srgbClr val="401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749039"/>
            <a:ext cx="463280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▌ </a:t>
            </a:r>
            <a:r>
              <a:rPr sz="135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受付は基本1名（残りはWS）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24447" y="3749039"/>
            <a:ext cx="4998567" cy="566928"/>
          </a:xfrm>
          <a:prstGeom prst="roundRect">
            <a:avLst>
              <a:gd name="adj" fmla="val 9000"/>
            </a:avLst>
          </a:prstGeom>
          <a:solidFill>
            <a:srgbClr val="16161A"/>
          </a:solidFill>
          <a:ln w="12700">
            <a:solidFill>
              <a:srgbClr val="401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3047" y="3749039"/>
            <a:ext cx="463280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▌ </a:t>
            </a:r>
            <a:r>
              <a:rPr sz="135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お釣り3〜4万円（5,000円札も）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4462272"/>
            <a:ext cx="4998567" cy="566928"/>
          </a:xfrm>
          <a:prstGeom prst="roundRect">
            <a:avLst>
              <a:gd name="adj" fmla="val 9000"/>
            </a:avLst>
          </a:prstGeom>
          <a:solidFill>
            <a:srgbClr val="16161A"/>
          </a:solidFill>
          <a:ln w="12700">
            <a:solidFill>
              <a:srgbClr val="401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462272"/>
            <a:ext cx="463280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▌ </a:t>
            </a:r>
            <a:r>
              <a:rPr sz="135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予約客を優先・当日枠は整理券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24447" y="4462272"/>
            <a:ext cx="4998567" cy="566928"/>
          </a:xfrm>
          <a:prstGeom prst="roundRect">
            <a:avLst>
              <a:gd name="adj" fmla="val 9000"/>
            </a:avLst>
          </a:prstGeom>
          <a:solidFill>
            <a:srgbClr val="16161A"/>
          </a:solidFill>
          <a:ln w="12700">
            <a:solidFill>
              <a:srgbClr val="401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53047" y="4462272"/>
            <a:ext cx="463280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▌ </a:t>
            </a:r>
            <a:r>
              <a:rPr sz="135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売上は現金／電子別に即メモ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68680" y="5175504"/>
            <a:ext cx="4998567" cy="566928"/>
          </a:xfrm>
          <a:prstGeom prst="roundRect">
            <a:avLst>
              <a:gd name="adj" fmla="val 9000"/>
            </a:avLst>
          </a:prstGeom>
          <a:solidFill>
            <a:srgbClr val="16161A"/>
          </a:solidFill>
          <a:ln w="12700">
            <a:solidFill>
              <a:srgbClr val="401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5175504"/>
            <a:ext cx="463280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▌ </a:t>
            </a:r>
            <a:r>
              <a:rPr sz="135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値引き・サービスは個人判断しない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24447" y="5175504"/>
            <a:ext cx="4998567" cy="566928"/>
          </a:xfrm>
          <a:prstGeom prst="roundRect">
            <a:avLst>
              <a:gd name="adj" fmla="val 9000"/>
            </a:avLst>
          </a:prstGeom>
          <a:solidFill>
            <a:srgbClr val="16161A"/>
          </a:solidFill>
          <a:ln w="12700">
            <a:solidFill>
              <a:srgbClr val="401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53047" y="5175504"/>
            <a:ext cx="463280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▌ </a:t>
            </a:r>
            <a:r>
              <a:rPr sz="135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PayPay不調は現金切替を最優先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24160" y="6446520"/>
            <a:ext cx="128016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8/13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80160"/>
            <a:ext cx="12191695" cy="41148"/>
          </a:xfrm>
          <a:prstGeom prst="rect">
            <a:avLst/>
          </a:prstGeom>
          <a:solidFill>
            <a:srgbClr val="B7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37160"/>
            <a:ext cx="137160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3800" b="1">
                <a:solidFill>
                  <a:srgbClr val="B7121C"/>
                </a:solidFill>
                <a:latin typeface="Yu Gothic UI"/>
                <a:ea typeface="Yu Gothic UI"/>
                <a:cs typeface="Yu Gothic UI"/>
              </a:rPr>
              <a:t>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83080" y="137160"/>
            <a:ext cx="987552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70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SNS・アンケートの案内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41732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お見送り時にお願いすること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6446520"/>
            <a:ext cx="82296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指づくりWS スタッフマニュアル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2011679"/>
            <a:ext cx="4998567" cy="3657600"/>
          </a:xfrm>
          <a:prstGeom prst="roundRect">
            <a:avLst>
              <a:gd name="adj" fmla="val 9000"/>
            </a:avLst>
          </a:prstGeom>
          <a:solidFill>
            <a:srgbClr val="16161A"/>
          </a:solidFill>
          <a:ln w="12700">
            <a:solidFill>
              <a:srgbClr val="401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68680" y="2011679"/>
            <a:ext cx="4998567" cy="640080"/>
          </a:xfrm>
          <a:prstGeom prst="roundRect">
            <a:avLst>
              <a:gd name="adj" fmla="val 12000"/>
            </a:avLst>
          </a:prstGeom>
          <a:solidFill>
            <a:srgbClr val="B7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039112"/>
            <a:ext cx="499856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SNS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19" y="2880360"/>
            <a:ext cx="4358487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「Xに投稿いただけると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　作家が見にいきます」と案内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88719" y="3749039"/>
            <a:ext cx="4358487" cy="548640"/>
          </a:xfrm>
          <a:prstGeom prst="roundRect">
            <a:avLst>
              <a:gd name="adj" fmla="val 9000"/>
            </a:avLst>
          </a:prstGeom>
          <a:solidFill>
            <a:srgbClr val="1E1E23"/>
          </a:solidFill>
          <a:ln w="12700">
            <a:solidFill>
              <a:srgbClr val="B712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88719" y="3749039"/>
            <a:ext cx="4358487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#指キーホルダー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88719" y="4434840"/>
            <a:ext cx="4358487" cy="548640"/>
          </a:xfrm>
          <a:prstGeom prst="roundRect">
            <a:avLst>
              <a:gd name="adj" fmla="val 9000"/>
            </a:avLst>
          </a:prstGeom>
          <a:solidFill>
            <a:srgbClr val="1E1E23"/>
          </a:solidFill>
          <a:ln w="12700">
            <a:solidFill>
              <a:srgbClr val="B712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88719" y="4434840"/>
            <a:ext cx="4358487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@I_LOVE_Clown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24447" y="2011679"/>
            <a:ext cx="4998567" cy="3657600"/>
          </a:xfrm>
          <a:prstGeom prst="roundRect">
            <a:avLst>
              <a:gd name="adj" fmla="val 9000"/>
            </a:avLst>
          </a:prstGeom>
          <a:solidFill>
            <a:srgbClr val="16161A"/>
          </a:solidFill>
          <a:ln w="12700">
            <a:solidFill>
              <a:srgbClr val="401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24447" y="2011679"/>
            <a:ext cx="4998567" cy="640080"/>
          </a:xfrm>
          <a:prstGeom prst="roundRect">
            <a:avLst>
              <a:gd name="adj" fmla="val 12000"/>
            </a:avLst>
          </a:prstGeom>
          <a:solidFill>
            <a:srgbClr val="B7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4447" y="2039112"/>
            <a:ext cx="499856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アンケート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44487" y="2880360"/>
            <a:ext cx="4358487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▸ </a:t>
            </a:r>
            <a:r>
              <a:rPr sz="140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全イベント共通の1本（毎回作らない）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▸ </a:t>
            </a:r>
            <a:r>
              <a:rPr sz="140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印刷QRコードを見せて案内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▸ </a:t>
            </a:r>
            <a:r>
              <a:rPr sz="140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「1分で終わります！」とひと言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▸ </a:t>
            </a:r>
            <a:r>
              <a:rPr sz="140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強制はしない。答えてくれたらお礼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6446520"/>
            <a:ext cx="128016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9/13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80160"/>
            <a:ext cx="12191695" cy="41148"/>
          </a:xfrm>
          <a:prstGeom prst="rect">
            <a:avLst/>
          </a:prstGeom>
          <a:solidFill>
            <a:srgbClr val="B7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37160"/>
            <a:ext cx="137160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3800" b="1">
                <a:solidFill>
                  <a:srgbClr val="B7121C"/>
                </a:solidFill>
                <a:latin typeface="Yu Gothic UI"/>
                <a:ea typeface="Yu Gothic UI"/>
                <a:cs typeface="Yu Gothic U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83080" y="137160"/>
            <a:ext cx="987552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70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スタッフの基本ルール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41732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参加前に必ず一読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6446520"/>
            <a:ext cx="82296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指づくりWS スタッフマニュアル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1965960"/>
            <a:ext cx="4998567" cy="1828800"/>
          </a:xfrm>
          <a:prstGeom prst="roundRect">
            <a:avLst>
              <a:gd name="adj" fmla="val 9000"/>
            </a:avLst>
          </a:prstGeom>
          <a:solidFill>
            <a:srgbClr val="16161A"/>
          </a:solidFill>
          <a:ln w="12700">
            <a:solidFill>
              <a:srgbClr val="401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143000" y="2221991"/>
            <a:ext cx="1371600" cy="502920"/>
          </a:xfrm>
          <a:prstGeom prst="roundRect">
            <a:avLst>
              <a:gd name="adj" fmla="val 18000"/>
            </a:avLst>
          </a:prstGeom>
          <a:solidFill>
            <a:srgbClr val="B7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2249424"/>
            <a:ext cx="1371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服装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19" y="2880360"/>
            <a:ext cx="4358487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・ </a:t>
            </a:r>
            <a:r>
              <a:rPr sz="135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黒基調・汚れてもいい服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・ </a:t>
            </a:r>
            <a:r>
              <a:rPr sz="135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スカート一律禁止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・ </a:t>
            </a:r>
            <a:r>
              <a:rPr sz="135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スニーカー（終日立ち仕事）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24447" y="1965960"/>
            <a:ext cx="4998567" cy="1828800"/>
          </a:xfrm>
          <a:prstGeom prst="roundRect">
            <a:avLst>
              <a:gd name="adj" fmla="val 9000"/>
            </a:avLst>
          </a:prstGeom>
          <a:solidFill>
            <a:srgbClr val="16161A"/>
          </a:solidFill>
          <a:ln w="12700">
            <a:solidFill>
              <a:srgbClr val="401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598767" y="2221991"/>
            <a:ext cx="1371600" cy="502920"/>
          </a:xfrm>
          <a:prstGeom prst="roundRect">
            <a:avLst>
              <a:gd name="adj" fmla="val 18000"/>
            </a:avLst>
          </a:prstGeom>
          <a:solidFill>
            <a:srgbClr val="B7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98767" y="2249424"/>
            <a:ext cx="1371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持ち物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487" y="2880360"/>
            <a:ext cx="4358487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・ </a:t>
            </a:r>
            <a:r>
              <a:rPr sz="135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スマホ・モバイルバッテリー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・ </a:t>
            </a:r>
            <a:r>
              <a:rPr sz="135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飲み物・軽食・着替え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・ </a:t>
            </a:r>
            <a:r>
              <a:rPr sz="135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常備薬・絆創膏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" y="4023360"/>
            <a:ext cx="4998567" cy="1828800"/>
          </a:xfrm>
          <a:prstGeom prst="roundRect">
            <a:avLst>
              <a:gd name="adj" fmla="val 9000"/>
            </a:avLst>
          </a:prstGeom>
          <a:solidFill>
            <a:srgbClr val="16161A"/>
          </a:solidFill>
          <a:ln w="12700">
            <a:solidFill>
              <a:srgbClr val="401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143000" y="4279392"/>
            <a:ext cx="1371600" cy="502920"/>
          </a:xfrm>
          <a:prstGeom prst="roundRect">
            <a:avLst>
              <a:gd name="adj" fmla="val 18000"/>
            </a:avLst>
          </a:prstGeom>
          <a:solidFill>
            <a:srgbClr val="B7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4306824"/>
            <a:ext cx="1371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連絡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19" y="4937760"/>
            <a:ext cx="4358487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・ </a:t>
            </a:r>
            <a:r>
              <a:rPr sz="135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遅刻欠席は気づいた時点でLINE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・ </a:t>
            </a:r>
            <a:r>
              <a:rPr sz="135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朝が早い日は起きたら一言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・ </a:t>
            </a:r>
            <a:r>
              <a:rPr sz="135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調整は進行統括が対応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4447" y="4023360"/>
            <a:ext cx="4998567" cy="1828800"/>
          </a:xfrm>
          <a:prstGeom prst="roundRect">
            <a:avLst>
              <a:gd name="adj" fmla="val 9000"/>
            </a:avLst>
          </a:prstGeom>
          <a:solidFill>
            <a:srgbClr val="16161A"/>
          </a:solidFill>
          <a:ln w="12700">
            <a:solidFill>
              <a:srgbClr val="401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98767" y="4279392"/>
            <a:ext cx="1371600" cy="502920"/>
          </a:xfrm>
          <a:prstGeom prst="roundRect">
            <a:avLst>
              <a:gd name="adj" fmla="val 18000"/>
            </a:avLst>
          </a:prstGeom>
          <a:solidFill>
            <a:srgbClr val="B7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98767" y="4306824"/>
            <a:ext cx="1371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休憩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44487" y="4937760"/>
            <a:ext cx="4358487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・ </a:t>
            </a:r>
            <a:r>
              <a:rPr sz="135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1人あたり合計1時間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・ </a:t>
            </a:r>
            <a:r>
              <a:rPr sz="135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全員同時はNG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・ </a:t>
            </a:r>
            <a:r>
              <a:rPr sz="135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30分ずつずらして交代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24160" y="6446520"/>
            <a:ext cx="128016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10/13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80160"/>
            <a:ext cx="12191695" cy="41148"/>
          </a:xfrm>
          <a:prstGeom prst="rect">
            <a:avLst/>
          </a:prstGeom>
          <a:solidFill>
            <a:srgbClr val="B7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37160"/>
            <a:ext cx="137160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3800" b="1">
                <a:solidFill>
                  <a:srgbClr val="B7121C"/>
                </a:solidFill>
                <a:latin typeface="Yu Gothic UI"/>
                <a:ea typeface="Yu Gothic UI"/>
                <a:cs typeface="Yu Gothic U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83080" y="137160"/>
            <a:ext cx="987552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70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お金のこと（報酬・交通費）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41732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スタッフへの支払いについて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6446520"/>
            <a:ext cx="82296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指づくりWS スタッフマニュアル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2057400"/>
            <a:ext cx="4023360" cy="3291840"/>
          </a:xfrm>
          <a:prstGeom prst="roundRect">
            <a:avLst>
              <a:gd name="adj" fmla="val 9000"/>
            </a:avLst>
          </a:prstGeom>
          <a:solidFill>
            <a:srgbClr val="1E1E23"/>
          </a:solidFill>
          <a:ln w="25400">
            <a:solidFill>
              <a:srgbClr val="B712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514600"/>
            <a:ext cx="402336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日給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40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14,000円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160520"/>
            <a:ext cx="402336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＋ 交通費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03520" y="2057400"/>
            <a:ext cx="6019495" cy="960120"/>
          </a:xfrm>
          <a:prstGeom prst="roundRect">
            <a:avLst>
              <a:gd name="adj" fmla="val 9000"/>
            </a:avLst>
          </a:prstGeom>
          <a:solidFill>
            <a:srgbClr val="16161A"/>
          </a:solidFill>
          <a:ln w="12700">
            <a:solidFill>
              <a:srgbClr val="401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77840" y="2194560"/>
            <a:ext cx="5470855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受け取り方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イベント終了後に銀行振込（振込先は終了後に個別確認）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0" y="3154680"/>
            <a:ext cx="6019495" cy="960120"/>
          </a:xfrm>
          <a:prstGeom prst="roundRect">
            <a:avLst>
              <a:gd name="adj" fmla="val 9000"/>
            </a:avLst>
          </a:prstGeom>
          <a:solidFill>
            <a:srgbClr val="16161A"/>
          </a:solidFill>
          <a:ln w="12700">
            <a:solidFill>
              <a:srgbClr val="401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77840" y="3291840"/>
            <a:ext cx="5470855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交通費の精算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「外部協力者用 経費精算シート」に記入 → PDF化 → 渡邊さんへDM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03520" y="4251960"/>
            <a:ext cx="6019495" cy="960120"/>
          </a:xfrm>
          <a:prstGeom prst="roundRect">
            <a:avLst>
              <a:gd name="adj" fmla="val 9000"/>
            </a:avLst>
          </a:prstGeom>
          <a:solidFill>
            <a:srgbClr val="16161A"/>
          </a:solidFill>
          <a:ln w="12700">
            <a:solidFill>
              <a:srgbClr val="401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77840" y="4389120"/>
            <a:ext cx="5470855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領収書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電車・バスは領収書不要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24160" y="6446520"/>
            <a:ext cx="128016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11/13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80160"/>
            <a:ext cx="12191695" cy="41148"/>
          </a:xfrm>
          <a:prstGeom prst="rect">
            <a:avLst/>
          </a:prstGeom>
          <a:solidFill>
            <a:srgbClr val="B7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37160"/>
            <a:ext cx="137160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3800" b="1">
                <a:solidFill>
                  <a:srgbClr val="B7121C"/>
                </a:solidFill>
                <a:latin typeface="Yu Gothic UI"/>
                <a:ea typeface="Yu Gothic UI"/>
                <a:cs typeface="Yu Gothic UI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83080" y="137160"/>
            <a:ext cx="987552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70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⚠ 緊急時対応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41732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迷わず進行統括へエスカレーション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6446520"/>
            <a:ext cx="82296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指づくりWS スタッフマニュアル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2011679"/>
            <a:ext cx="10454335" cy="566928"/>
          </a:xfrm>
          <a:prstGeom prst="roundRect">
            <a:avLst>
              <a:gd name="adj" fmla="val 6000"/>
            </a:avLst>
          </a:prstGeom>
          <a:solidFill>
            <a:srgbClr val="B7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011679"/>
            <a:ext cx="32918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状況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2011679"/>
            <a:ext cx="679673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対応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2651759"/>
            <a:ext cx="10454335" cy="566928"/>
          </a:xfrm>
          <a:prstGeom prst="roundRect">
            <a:avLst>
              <a:gd name="adj" fmla="val 9000"/>
            </a:avLst>
          </a:prstGeom>
          <a:solidFill>
            <a:srgbClr val="16161A"/>
          </a:solidFill>
          <a:ln w="12700">
            <a:solidFill>
              <a:srgbClr val="401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651759"/>
            <a:ext cx="32918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体調不良（軽度）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2651759"/>
            <a:ext cx="679673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WS中断・休憩・水分。回復しなければ救護室へ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8680" y="3291839"/>
            <a:ext cx="10454335" cy="566928"/>
          </a:xfrm>
          <a:prstGeom prst="roundRect">
            <a:avLst>
              <a:gd name="adj" fmla="val 9000"/>
            </a:avLst>
          </a:prstGeom>
          <a:solidFill>
            <a:srgbClr val="1E1E23"/>
          </a:solidFill>
          <a:ln w="19050">
            <a:solidFill>
              <a:srgbClr val="E6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3291839"/>
            <a:ext cx="32918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体調不良（重度・出血）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3291839"/>
            <a:ext cx="679673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救護室に即連絡、119の判断は早めに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" y="3931920"/>
            <a:ext cx="10454335" cy="566928"/>
          </a:xfrm>
          <a:prstGeom prst="roundRect">
            <a:avLst>
              <a:gd name="adj" fmla="val 9000"/>
            </a:avLst>
          </a:prstGeom>
          <a:solidFill>
            <a:srgbClr val="1E1E23"/>
          </a:solidFill>
          <a:ln w="19050">
            <a:solidFill>
              <a:srgbClr val="E6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3931920"/>
            <a:ext cx="32918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アレルギー反応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3931920"/>
            <a:ext cx="679673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WS即中断・材料除去・救護室・LINE共有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68680" y="4572000"/>
            <a:ext cx="10454335" cy="566928"/>
          </a:xfrm>
          <a:prstGeom prst="roundRect">
            <a:avLst>
              <a:gd name="adj" fmla="val 9000"/>
            </a:avLst>
          </a:prstGeom>
          <a:solidFill>
            <a:srgbClr val="16161A"/>
          </a:solidFill>
          <a:ln w="12700">
            <a:solidFill>
              <a:srgbClr val="401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7280" y="4572000"/>
            <a:ext cx="32918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PayPay不調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120" y="4572000"/>
            <a:ext cx="679673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現金切替を最優先（復旧は後回し）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" y="5212080"/>
            <a:ext cx="10454335" cy="566928"/>
          </a:xfrm>
          <a:prstGeom prst="roundRect">
            <a:avLst>
              <a:gd name="adj" fmla="val 9000"/>
            </a:avLst>
          </a:prstGeom>
          <a:solidFill>
            <a:srgbClr val="16161A"/>
          </a:solidFill>
          <a:ln w="12700">
            <a:solidFill>
              <a:srgbClr val="401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5212080"/>
            <a:ext cx="32918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釣り銭切れ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9120" y="5212080"/>
            <a:ext cx="679673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近隣ATM・両替所へ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68680" y="5852160"/>
            <a:ext cx="10454335" cy="566928"/>
          </a:xfrm>
          <a:prstGeom prst="roundRect">
            <a:avLst>
              <a:gd name="adj" fmla="val 9000"/>
            </a:avLst>
          </a:prstGeom>
          <a:solidFill>
            <a:srgbClr val="16161A"/>
          </a:solidFill>
          <a:ln w="12700">
            <a:solidFill>
              <a:srgbClr val="401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97280" y="5852160"/>
            <a:ext cx="32918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クレーム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9120" y="5852160"/>
            <a:ext cx="679673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その場で謝罪 → 進行統括へ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24160" y="6446520"/>
            <a:ext cx="128016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12/13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80160"/>
            <a:ext cx="12191695" cy="41148"/>
          </a:xfrm>
          <a:prstGeom prst="rect">
            <a:avLst/>
          </a:prstGeom>
          <a:solidFill>
            <a:srgbClr val="B7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37160"/>
            <a:ext cx="137160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3800" b="1">
                <a:solidFill>
                  <a:srgbClr val="B7121C"/>
                </a:solidFill>
                <a:latin typeface="Yu Gothic UI"/>
                <a:ea typeface="Yu Gothic UI"/>
                <a:cs typeface="Yu Gothic UI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83080" y="137160"/>
            <a:ext cx="987552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70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持ち物チェックリスト ＆ まとめ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41732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搬入前の最終チェック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6446520"/>
            <a:ext cx="82296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指づくりWS スタッフマニュアル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1965960"/>
            <a:ext cx="2407843" cy="3017520"/>
          </a:xfrm>
          <a:prstGeom prst="roundRect">
            <a:avLst>
              <a:gd name="adj" fmla="val 9000"/>
            </a:avLst>
          </a:prstGeom>
          <a:solidFill>
            <a:srgbClr val="16161A"/>
          </a:solidFill>
          <a:ln w="12700">
            <a:solidFill>
              <a:srgbClr val="401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68680" y="1965960"/>
            <a:ext cx="2407843" cy="502920"/>
          </a:xfrm>
          <a:prstGeom prst="roundRect">
            <a:avLst>
              <a:gd name="adj" fmla="val 14000"/>
            </a:avLst>
          </a:prstGeom>
          <a:solidFill>
            <a:srgbClr val="B7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993391"/>
            <a:ext cx="2407843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WS用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651760"/>
            <a:ext cx="2042083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□ </a:t>
            </a:r>
            <a:r>
              <a:rPr sz="130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材料一式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□ </a:t>
            </a:r>
            <a:r>
              <a:rPr sz="130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道具一式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□ </a:t>
            </a:r>
            <a:r>
              <a:rPr sz="130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見本サンプル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□ </a:t>
            </a:r>
            <a:r>
              <a:rPr sz="130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アレルギー確認用紙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□ </a:t>
            </a:r>
            <a:r>
              <a:rPr sz="130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タイマー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50843" y="1965960"/>
            <a:ext cx="2407843" cy="3017520"/>
          </a:xfrm>
          <a:prstGeom prst="roundRect">
            <a:avLst>
              <a:gd name="adj" fmla="val 9000"/>
            </a:avLst>
          </a:prstGeom>
          <a:solidFill>
            <a:srgbClr val="16161A"/>
          </a:solidFill>
          <a:ln w="12700">
            <a:solidFill>
              <a:srgbClr val="401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550843" y="1965960"/>
            <a:ext cx="2407843" cy="502920"/>
          </a:xfrm>
          <a:prstGeom prst="roundRect">
            <a:avLst>
              <a:gd name="adj" fmla="val 14000"/>
            </a:avLst>
          </a:prstGeom>
          <a:solidFill>
            <a:srgbClr val="B7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50843" y="1993391"/>
            <a:ext cx="2407843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ブース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79443" y="2651760"/>
            <a:ext cx="2042083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□ </a:t>
            </a:r>
            <a:r>
              <a:rPr sz="130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出展者証・什器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□ </a:t>
            </a:r>
            <a:r>
              <a:rPr sz="130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看板・POP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□ </a:t>
            </a:r>
            <a:r>
              <a:rPr sz="130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整理券・QR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□ </a:t>
            </a:r>
            <a:r>
              <a:rPr sz="130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台車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□ </a:t>
            </a:r>
            <a:r>
              <a:rPr sz="130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ゴミ袋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33007" y="1965960"/>
            <a:ext cx="2407843" cy="3017520"/>
          </a:xfrm>
          <a:prstGeom prst="roundRect">
            <a:avLst>
              <a:gd name="adj" fmla="val 9000"/>
            </a:avLst>
          </a:prstGeom>
          <a:solidFill>
            <a:srgbClr val="16161A"/>
          </a:solidFill>
          <a:ln w="12700">
            <a:solidFill>
              <a:srgbClr val="401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33007" y="1965960"/>
            <a:ext cx="2407843" cy="502920"/>
          </a:xfrm>
          <a:prstGeom prst="roundRect">
            <a:avLst>
              <a:gd name="adj" fmla="val 14000"/>
            </a:avLst>
          </a:prstGeom>
          <a:solidFill>
            <a:srgbClr val="B7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33007" y="1993391"/>
            <a:ext cx="2407843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会計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61607" y="2651760"/>
            <a:ext cx="2042083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□ </a:t>
            </a:r>
            <a:r>
              <a:rPr sz="130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レジ箱・釣り銭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□ </a:t>
            </a:r>
            <a:r>
              <a:rPr sz="130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PayPay QR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□ </a:t>
            </a:r>
            <a:r>
              <a:rPr sz="130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予約表・受付表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□ </a:t>
            </a:r>
            <a:r>
              <a:rPr sz="130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領収書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□ </a:t>
            </a:r>
            <a:r>
              <a:rPr sz="130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売上メモ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15171" y="1965960"/>
            <a:ext cx="2407843" cy="3017520"/>
          </a:xfrm>
          <a:prstGeom prst="roundRect">
            <a:avLst>
              <a:gd name="adj" fmla="val 9000"/>
            </a:avLst>
          </a:prstGeom>
          <a:solidFill>
            <a:srgbClr val="16161A"/>
          </a:solidFill>
          <a:ln w="12700">
            <a:solidFill>
              <a:srgbClr val="401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915171" y="1965960"/>
            <a:ext cx="2407843" cy="502920"/>
          </a:xfrm>
          <a:prstGeom prst="roundRect">
            <a:avLst>
              <a:gd name="adj" fmla="val 14000"/>
            </a:avLst>
          </a:prstGeom>
          <a:solidFill>
            <a:srgbClr val="B7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15171" y="1993391"/>
            <a:ext cx="2407843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個人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3771" y="2651760"/>
            <a:ext cx="2042083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□ </a:t>
            </a:r>
            <a:r>
              <a:rPr sz="130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スマホ・充電器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□ </a:t>
            </a:r>
            <a:r>
              <a:rPr sz="130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着替え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□ </a:t>
            </a:r>
            <a:r>
              <a:rPr sz="130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飲み物・軽食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□ </a:t>
            </a:r>
            <a:r>
              <a:rPr sz="130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常備薬・絆創膏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68680" y="5212079"/>
            <a:ext cx="10454335" cy="731520"/>
          </a:xfrm>
          <a:prstGeom prst="roundRect">
            <a:avLst>
              <a:gd name="adj" fmla="val 10000"/>
            </a:avLst>
          </a:prstGeom>
          <a:solidFill>
            <a:srgbClr val="B7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5212079"/>
            <a:ext cx="10454335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困ったら・迷ったら、すべて進行統括へ。今日もよろしくお願いします！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24160" y="6446520"/>
            <a:ext cx="128016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13/13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