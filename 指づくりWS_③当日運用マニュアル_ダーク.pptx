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1600200"/>
            <a:ext cx="7315200" cy="6400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607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当日運用マニュアル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集合〜撤収・接客・会計・緊急時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▸  当日スタッフ向け。前日までに一読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▸  迷ったら「進行統括」に聞けばOK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▸  WS（指キーホルダー）の作り方は別冊②へ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355080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⚠  </a:t>
            </a:r>
            <a:r>
              <a:rPr sz="14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困ったら・迷ったら、すべて進行統括へ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554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37160"/>
            <a:ext cx="9692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当日の1日の流れ（集合〜撤収）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10:00開場の場合の目安。実際の時刻は朝礼で共有します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③ 当日運用マニュアル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65960"/>
            <a:ext cx="3240938" cy="393192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965960"/>
            <a:ext cx="3240938" cy="548640"/>
          </a:xfrm>
          <a:prstGeom prst="roundRect">
            <a:avLst>
              <a:gd name="adj" fmla="val 12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93391"/>
            <a:ext cx="324093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開場前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743200"/>
            <a:ext cx="273801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集合・点呼（証類を忘れずに）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搬入 → ブース設営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釣り銭・WS道具の準備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朝礼（最終ブリーフィング）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75378" y="1965960"/>
            <a:ext cx="3240938" cy="393192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75378" y="1965960"/>
            <a:ext cx="3240938" cy="548640"/>
          </a:xfrm>
          <a:prstGeom prst="roundRect">
            <a:avLst>
              <a:gd name="adj" fmla="val 12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5378" y="1993391"/>
            <a:ext cx="324093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開場中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9698" y="2743200"/>
            <a:ext cx="273801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接客・WS進行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物販・呼び込み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予約客を優先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昼休憩は交代で（同時はNG）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2076" y="1965960"/>
            <a:ext cx="3240938" cy="393192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82076" y="1965960"/>
            <a:ext cx="3240938" cy="548640"/>
          </a:xfrm>
          <a:prstGeom prst="roundRect">
            <a:avLst>
              <a:gd name="adj" fmla="val 12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2076" y="1993391"/>
            <a:ext cx="324093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閉場後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396" y="2743200"/>
            <a:ext cx="273801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撤収・ブース掃除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売上集計（2人で）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搬出（レンタカー）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振り返り・解散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1/9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554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37160"/>
            <a:ext cx="9692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開場前にやること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開場までの準備の要点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③ 当日運用マニュアル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65960"/>
            <a:ext cx="4998567" cy="128016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65960"/>
            <a:ext cx="10058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167128"/>
            <a:ext cx="3626967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なるべくまとまって入場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バラバラだと時間がかかる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4447" y="1965960"/>
            <a:ext cx="4998567" cy="128016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1965960"/>
            <a:ext cx="10058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3167" y="2167128"/>
            <a:ext cx="3626967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設営は進行統括の指示で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勝手に動かない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474720"/>
            <a:ext cx="4998567" cy="128016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9050">
            <a:solidFill>
              <a:srgbClr val="B712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474720"/>
            <a:ext cx="10058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675887"/>
            <a:ext cx="3626967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釣り銭3〜4万円を2人で確認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1人では数えない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4447" y="3474720"/>
            <a:ext cx="4998567" cy="128016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3047" y="3474720"/>
            <a:ext cx="10058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3167" y="3675887"/>
            <a:ext cx="3626967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PayPay用QRコードを設置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現金＋PayPayのみ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983479"/>
            <a:ext cx="4998567" cy="128016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983479"/>
            <a:ext cx="10058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184647"/>
            <a:ext cx="3626967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初参加スタッフは1回練習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通しで制作してみる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4447" y="4983479"/>
            <a:ext cx="4998567" cy="128016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047" y="4983479"/>
            <a:ext cx="10058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3167" y="5184647"/>
            <a:ext cx="3626967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朝礼で最終確認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役割・動線・休憩・緊急時・SNS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2/9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554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37160"/>
            <a:ext cx="9692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接客・呼び込みトーク例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そのまま使える声かけのことば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③ 当日運用マニュアル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11679"/>
            <a:ext cx="10454335" cy="132588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7280" y="2240279"/>
            <a:ext cx="2377440" cy="502920"/>
          </a:xfrm>
          <a:prstGeom prst="roundRect">
            <a:avLst>
              <a:gd name="adj" fmla="val 18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67711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呼び込み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194560"/>
            <a:ext cx="7345375" cy="9601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「ちょいグロな“自分の指のキーホルダー”作れまーす！」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「20分でできます！」　※通路を妨げない位置で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566159"/>
            <a:ext cx="10454335" cy="132588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3794759"/>
            <a:ext cx="2377440" cy="502920"/>
          </a:xfrm>
          <a:prstGeom prst="roundRect">
            <a:avLst>
              <a:gd name="adj" fmla="val 18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822191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制作中の会話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749039"/>
            <a:ext cx="7345375" cy="9601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作家（@I_LOVE_Clown）の紹介、人気作の話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お客さんの指輪・ネイル・推し趣味から広げる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120640"/>
            <a:ext cx="10454335" cy="132588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7280" y="5349240"/>
            <a:ext cx="2377440" cy="502920"/>
          </a:xfrm>
          <a:prstGeom prst="roundRect">
            <a:avLst>
              <a:gd name="adj" fmla="val 18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376672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会計時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5303520"/>
            <a:ext cx="7345375" cy="9601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「お支払いは現金かPayPayです（カード不可）」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「領収書いりますか？」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3/9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554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37160"/>
            <a:ext cx="9692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受付・会計のルール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お金まわりは特に慎重に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③ 当日運用マニュアル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65960"/>
            <a:ext cx="10454335" cy="155448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25400">
            <a:solidFill>
              <a:srgbClr val="E6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965960"/>
            <a:ext cx="10972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148839"/>
            <a:ext cx="880841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現金は最初と最後に Steenzスタッフ2人で確認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1人では絶対に数えない → 確認額は収益シートに記録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749039"/>
            <a:ext cx="4998567" cy="566928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749039"/>
            <a:ext cx="463280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受付は基本1名（残りはWS）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4447" y="3749039"/>
            <a:ext cx="4998567" cy="566928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3047" y="3749039"/>
            <a:ext cx="463280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お釣り3〜4万円（5,000円札も）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462272"/>
            <a:ext cx="4998567" cy="566928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62272"/>
            <a:ext cx="463280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予約客を優先・当日枠は整理券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4447" y="4462272"/>
            <a:ext cx="4998567" cy="566928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3047" y="4462272"/>
            <a:ext cx="463280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売上は現金／電子別に即メモ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175504"/>
            <a:ext cx="4998567" cy="566928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175504"/>
            <a:ext cx="463280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値引き・サービスは個人判断しない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24447" y="5175504"/>
            <a:ext cx="4998567" cy="566928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047" y="5175504"/>
            <a:ext cx="463280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PayPay不調は現金切替を最優先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4/9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554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37160"/>
            <a:ext cx="9692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SNS・アンケートの案内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お見送り時にお願いすること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③ 当日運用マニュアル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11679"/>
            <a:ext cx="4998567" cy="365760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011679"/>
            <a:ext cx="4998567" cy="640080"/>
          </a:xfrm>
          <a:prstGeom prst="roundRect">
            <a:avLst>
              <a:gd name="adj" fmla="val 12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39112"/>
            <a:ext cx="499856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SNS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880360"/>
            <a:ext cx="435848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「Xに投稿いただけると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　作家が見にいきます」と案内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19" y="3749039"/>
            <a:ext cx="4358487" cy="54864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2700">
            <a:solidFill>
              <a:srgbClr val="B712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19" y="3749039"/>
            <a:ext cx="435848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#指キーホルダー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19" y="4434840"/>
            <a:ext cx="4358487" cy="54864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2700">
            <a:solidFill>
              <a:srgbClr val="B712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19" y="4434840"/>
            <a:ext cx="435848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@I_LOVE_Clown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4447" y="2011679"/>
            <a:ext cx="4998567" cy="365760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4447" y="2011679"/>
            <a:ext cx="4998567" cy="640080"/>
          </a:xfrm>
          <a:prstGeom prst="roundRect">
            <a:avLst>
              <a:gd name="adj" fmla="val 12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4447" y="2039112"/>
            <a:ext cx="499856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アンケート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4487" y="2880360"/>
            <a:ext cx="4358487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▸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全イベント共通の1本（毎回作らない）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▸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印刷QRコードを見せて案内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▸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「1分で終わります！」とひと言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▸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強制はしない。答えてくれたらお礼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5/9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554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37160"/>
            <a:ext cx="9692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スタッフの基本ルール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参加前に必ず一読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③ 当日運用マニュアル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65960"/>
            <a:ext cx="4998567" cy="182880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43000" y="2221991"/>
            <a:ext cx="1371600" cy="502920"/>
          </a:xfrm>
          <a:prstGeom prst="roundRect">
            <a:avLst>
              <a:gd name="adj" fmla="val 18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249424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服装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880360"/>
            <a:ext cx="435848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黒基調・汚れてもいい服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スカート一律禁止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スニーカー（終日立ち仕事）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965960"/>
            <a:ext cx="4998567" cy="182880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98767" y="2221991"/>
            <a:ext cx="1371600" cy="502920"/>
          </a:xfrm>
          <a:prstGeom prst="roundRect">
            <a:avLst>
              <a:gd name="adj" fmla="val 18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2249424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持ち物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487" y="2880360"/>
            <a:ext cx="435848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スマホ・モバイルバッテリー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飲み物・軽食・着替え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常備薬・絆創膏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023360"/>
            <a:ext cx="4998567" cy="182880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43000" y="4279392"/>
            <a:ext cx="1371600" cy="502920"/>
          </a:xfrm>
          <a:prstGeom prst="roundRect">
            <a:avLst>
              <a:gd name="adj" fmla="val 18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306824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連絡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19" y="4937760"/>
            <a:ext cx="435848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遅刻欠席は気づいた時点でLINE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朝が早い日は起きたら一言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調整は進行統括が対応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447" y="4023360"/>
            <a:ext cx="4998567" cy="182880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98767" y="4279392"/>
            <a:ext cx="1371600" cy="502920"/>
          </a:xfrm>
          <a:prstGeom prst="roundRect">
            <a:avLst>
              <a:gd name="adj" fmla="val 18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98767" y="4306824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休憩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4487" y="4937760"/>
            <a:ext cx="435848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1人あたり合計1時間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全員同時はNG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30分ずつずらして交代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6/9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554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37160"/>
            <a:ext cx="9692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お金のこと（報酬・交通費）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スタッフへの支払いについて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③ 当日運用マニュアル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57400"/>
            <a:ext cx="4023360" cy="329184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25400">
            <a:solidFill>
              <a:srgbClr val="B712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40233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日給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40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14,000円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60520"/>
            <a:ext cx="4023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＋ 交通費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2057400"/>
            <a:ext cx="6019495" cy="96012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2194560"/>
            <a:ext cx="547085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受け取り方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イベント終了後に銀行振込（振込先は終了後に個別確認）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154680"/>
            <a:ext cx="6019495" cy="96012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3291840"/>
            <a:ext cx="547085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交通費の精算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「外部協力者用 経費精算シート」に記入 → PDF化 → 渡邊さんへDM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4251960"/>
            <a:ext cx="6019495" cy="96012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4389120"/>
            <a:ext cx="547085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領収書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電車・バスは領収書不要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7/9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554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37160"/>
            <a:ext cx="9692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⚠ 緊急時対応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迷わず進行統括へエスカレーション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③ 当日運用マニュアル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11679"/>
            <a:ext cx="10454335" cy="566928"/>
          </a:xfrm>
          <a:prstGeom prst="roundRect">
            <a:avLst>
              <a:gd name="adj" fmla="val 6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011679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状況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011679"/>
            <a:ext cx="67967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対応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651759"/>
            <a:ext cx="10454335" cy="566928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651759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体調不良（軽度）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651759"/>
            <a:ext cx="67967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WS中断・休憩・水分。回復しなければ救護室へ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291839"/>
            <a:ext cx="10454335" cy="566928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9050">
            <a:solidFill>
              <a:srgbClr val="E6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291839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体調不良（重度・出血）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291839"/>
            <a:ext cx="67967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救護室に即連絡、119の判断は早めに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931920"/>
            <a:ext cx="10454335" cy="566928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9050">
            <a:solidFill>
              <a:srgbClr val="E6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931920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アレルギー反応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931920"/>
            <a:ext cx="67967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WS即中断・材料除去・救護室・LINE共有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572000"/>
            <a:ext cx="10454335" cy="566928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572000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PayPay不調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572000"/>
            <a:ext cx="67967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現金切替を最優先（復旧は後回し）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212080"/>
            <a:ext cx="10454335" cy="566928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212080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釣り銭切れ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212080"/>
            <a:ext cx="67967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近隣ATM・両替所へ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852160"/>
            <a:ext cx="10454335" cy="566928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852160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クレーム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852160"/>
            <a:ext cx="67967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その場で謝罪 → 進行統括へ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8/9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554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37160"/>
            <a:ext cx="9692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持ち物チェックリスト ＆ まとめ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搬入前の最終チェック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③ 当日運用マニュアル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65960"/>
            <a:ext cx="2407843" cy="301752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965960"/>
            <a:ext cx="2407843" cy="502920"/>
          </a:xfrm>
          <a:prstGeom prst="roundRect">
            <a:avLst>
              <a:gd name="adj" fmla="val 14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93391"/>
            <a:ext cx="240784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WS用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51760"/>
            <a:ext cx="204208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材料一式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道具一式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見本サンプル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アレルギー確認用紙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タイマー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50843" y="1965960"/>
            <a:ext cx="2407843" cy="301752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50843" y="1965960"/>
            <a:ext cx="2407843" cy="502920"/>
          </a:xfrm>
          <a:prstGeom prst="roundRect">
            <a:avLst>
              <a:gd name="adj" fmla="val 14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0843" y="1993391"/>
            <a:ext cx="240784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ブース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9443" y="2651760"/>
            <a:ext cx="204208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出展者証・什器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看板・POP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整理券・QR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台車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ゴミ袋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1965960"/>
            <a:ext cx="2407843" cy="301752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33007" y="1965960"/>
            <a:ext cx="2407843" cy="502920"/>
          </a:xfrm>
          <a:prstGeom prst="roundRect">
            <a:avLst>
              <a:gd name="adj" fmla="val 14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3007" y="1993391"/>
            <a:ext cx="240784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会計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607" y="2651760"/>
            <a:ext cx="204208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レジ箱・釣り銭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PayPay QR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予約表・受付表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領収書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売上メモ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171" y="1965960"/>
            <a:ext cx="2407843" cy="301752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15171" y="1965960"/>
            <a:ext cx="2407843" cy="502920"/>
          </a:xfrm>
          <a:prstGeom prst="roundRect">
            <a:avLst>
              <a:gd name="adj" fmla="val 14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171" y="1993391"/>
            <a:ext cx="240784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個人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3771" y="2651760"/>
            <a:ext cx="204208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スマホ・充電器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着替え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飲み物・軽食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常備薬・絆創膏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212079"/>
            <a:ext cx="10454335" cy="731520"/>
          </a:xfrm>
          <a:prstGeom prst="roundRect">
            <a:avLst>
              <a:gd name="adj" fmla="val 10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212079"/>
            <a:ext cx="1045433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困ったら・迷ったら、すべて進行統括へ。今日もよろしくお願いします！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