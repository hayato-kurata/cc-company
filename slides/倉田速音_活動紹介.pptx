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本日は、尋常性白斑という難病と向き合いながらファッションブランドを立ち上げた倉田速音さんの活動を紹介します。テーマは『太陽の下で、自分らしく』です。（つかみ）皆さんは、日光を浴びられないとしたら何を諦め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【人物紹介】倉田速音さんは、株式会社HAYATO KURATAの代表。N高等学校の起業部出身です。小5で発症した尋常性白斑の当事者であり、自身の経験を起点に高校在学中に起業しました。ビジョンは『5年後には世界へ』。まず人物像を押さえてください。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活動の原点は病気です。尋常性白斑は約100人に1人、国内に約100万人といわれます。紫外線で肌が腫れ皮膚がんのリスクもあり、外出を避ける生活に。見た目の悩みからいじめや自己肯定感の低下も経験しました。3つの困難を具体的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機】ここが物語の核心です。『避ける』生活を、『楽しむ』に変えたい。同じ病気の人が太陽の下でも安心して楽しめる洋服をつくりたい――。“自分の難病をみんなと克服する”という前向きな決意に変わった瞬間を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想いを形にしたのが起業です。N高起業部からアパレル企業アミアズに企画を持ち込み、2年余りの指導を受けて事業化。起業部の法人登記第3号として設立し、2021年2月には目標250万円のクラウドファンディングに挑戦しました。学生起業のリアルを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ブランドが届ける価値は『紫外線を気にせず、おしゃれを楽しめる』こと。UVカットの服に加え、紫外線で色が変わる服も展開し、弱点だった紫外線を遊び心に変えました。対象は白斑・光線過敏症・アルビノなどUVを避けたいすべての人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【作品】『ソラ時々グラデーション』はFASHION FRONTIER PROGRAMのファイナリスト作品。空の移ろいになぞらえ、白斑やコンプレックスも“グラデーション”として肯定するメッセージです。弱さを隠さず、その人らしい美しさとして表現する姿勢を語ります。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歩み】ここまでの流れをタイムラインで整理します。発症→起業構想→会社設立→クラウドファンディング→新展開と受賞。一つの困難が、行動を通じて広がっていく様子を俯瞰で見せ、聞き手に全体像を掴んで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活動はテレビ東京『生きるを伝える』や産経新聞などで紹介され、コンペでも評価されています。『難病×起業×ファッション』という掛け算が、同じ悩みを持つ人と社会の意識を少しずつ変えている――というメッセージで締め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【現在とこれから】今もHAYATO KURATAのCEOを続けつつ、10代向けメディア『Steenz』などへ活動を広げています。掲げるのは『5年後には世界へ』。紫外線に悩む世界中の人へ、自分らしくいられる選択肢を届ける――未来の話で前向きに展望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締め】最後はメッセージで締めます。『弱さは、その人だけの色になる』。倉田さんの挑戦が伝えるのは、コンプレックスも自分らしさに変えられるということ。聞き手に一言、行動や応援を促して終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【出典】本資料はネット上の公開情報（プレスリリース、メディア記事、本人SNS等）に基づきます。質疑では最新状況は本人の各SNSを参照する旨を案内してください。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1B2A4A"/>
              </a:gs>
              <a:gs pos="100000">
                <a:srgbClr val="2E6FB5"/>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321040" y="365760"/>
            <a:ext cx="2926080" cy="2926080"/>
          </a:xfrm>
          <a:prstGeom prst="ellipse">
            <a:avLst/>
          </a:prstGeom>
          <a:solidFill>
            <a:srgbClr val="F7C54C">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822960"/>
            <a:ext cx="2011680" cy="2011680"/>
          </a:xfrm>
          <a:prstGeom prst="ellipse">
            <a:avLst/>
          </a:prstGeom>
          <a:solidFill>
            <a:srgbClr val="F28C3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57400"/>
            <a:ext cx="8686800" cy="548640"/>
          </a:xfrm>
          <a:prstGeom prst="rect">
            <a:avLst/>
          </a:prstGeom>
          <a:noFill/>
        </p:spPr>
        <p:txBody>
          <a:bodyPr wrap="square" anchor="t" lIns="0" rIns="0" tIns="0" bIns="0">
            <a:spAutoFit/>
          </a:bodyPr>
          <a:lstStyle/>
          <a:p>
            <a:pPr algn="l">
              <a:lnSpc>
                <a:spcPct val="115000"/>
              </a:lnSpc>
              <a:spcAft>
                <a:spcPts val="200"/>
              </a:spcAft>
            </a:pPr>
            <a:r>
              <a:rPr sz="1600" b="1">
                <a:solidFill>
                  <a:srgbClr val="7EC8E3"/>
                </a:solidFill>
                <a:latin typeface="Yu Gothic"/>
              </a:rPr>
              <a:t>ACTIVITY  PROFILE</a:t>
            </a:r>
          </a:p>
        </p:txBody>
      </p:sp>
      <p:sp>
        <p:nvSpPr>
          <p:cNvPr id="6" name="TextBox 5"/>
          <p:cNvSpPr txBox="1"/>
          <p:nvPr/>
        </p:nvSpPr>
        <p:spPr>
          <a:xfrm>
            <a:off x="777240" y="2514600"/>
            <a:ext cx="10058400" cy="1463040"/>
          </a:xfrm>
          <a:prstGeom prst="rect">
            <a:avLst/>
          </a:prstGeom>
          <a:noFill/>
        </p:spPr>
        <p:txBody>
          <a:bodyPr wrap="square" anchor="t" lIns="0" rIns="0" tIns="0" bIns="0">
            <a:spAutoFit/>
          </a:bodyPr>
          <a:lstStyle/>
          <a:p>
            <a:pPr algn="l">
              <a:lnSpc>
                <a:spcPct val="110000"/>
              </a:lnSpc>
              <a:spcAft>
                <a:spcPts val="600"/>
              </a:spcAft>
            </a:pPr>
            <a:r>
              <a:rPr sz="4600" b="1">
                <a:solidFill>
                  <a:srgbClr val="FFFFFF"/>
                </a:solidFill>
                <a:latin typeface="Yu Gothic"/>
              </a:rPr>
              <a:t>太陽の下で、自分らしく。</a:t>
            </a:r>
          </a:p>
        </p:txBody>
      </p:sp>
      <p:sp>
        <p:nvSpPr>
          <p:cNvPr id="7" name="TextBox 6"/>
          <p:cNvSpPr txBox="1"/>
          <p:nvPr/>
        </p:nvSpPr>
        <p:spPr>
          <a:xfrm>
            <a:off x="822960" y="3886200"/>
            <a:ext cx="9601200" cy="914400"/>
          </a:xfrm>
          <a:prstGeom prst="rect">
            <a:avLst/>
          </a:prstGeom>
          <a:noFill/>
        </p:spPr>
        <p:txBody>
          <a:bodyPr wrap="square" anchor="t" lIns="0" rIns="0" tIns="0" bIns="0">
            <a:spAutoFit/>
          </a:bodyPr>
          <a:lstStyle/>
          <a:p>
            <a:pPr algn="l">
              <a:lnSpc>
                <a:spcPct val="115000"/>
              </a:lnSpc>
              <a:spcAft>
                <a:spcPts val="400"/>
              </a:spcAft>
            </a:pPr>
            <a:r>
              <a:rPr sz="2600" b="1">
                <a:solidFill>
                  <a:srgbClr val="F7C54C"/>
                </a:solidFill>
                <a:latin typeface="Yu Gothic"/>
              </a:rPr>
              <a:t>倉田 速音 ／ Hayato Kurata</a:t>
            </a:r>
          </a:p>
          <a:p>
            <a:pPr algn="l">
              <a:lnSpc>
                <a:spcPct val="115000"/>
              </a:lnSpc>
              <a:spcAft>
                <a:spcPts val="600"/>
              </a:spcAft>
            </a:pPr>
            <a:r>
              <a:rPr sz="1600" b="0">
                <a:solidFill>
                  <a:srgbClr val="FFFFFF"/>
                </a:solidFill>
                <a:latin typeface="Yu Gothic"/>
              </a:rPr>
              <a:t>尋常性白斑から生まれた UVカット・ファッションブランド「HAYATO KURATA」</a:t>
            </a:r>
          </a:p>
        </p:txBody>
      </p:sp>
      <p:sp>
        <p:nvSpPr>
          <p:cNvPr id="8" name="Rectangle 7"/>
          <p:cNvSpPr/>
          <p:nvPr/>
        </p:nvSpPr>
        <p:spPr>
          <a:xfrm>
            <a:off x="841248" y="5074920"/>
            <a:ext cx="2743200" cy="381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WHO IS HE?</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倉田速音さんとは</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2</a:t>
            </a:r>
          </a:p>
        </p:txBody>
      </p:sp>
      <p:sp>
        <p:nvSpPr>
          <p:cNvPr id="7" name="Rectangle 6"/>
          <p:cNvSpPr/>
          <p:nvPr/>
        </p:nvSpPr>
        <p:spPr>
          <a:xfrm>
            <a:off x="640080" y="1828800"/>
            <a:ext cx="4023360" cy="42976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83080" y="2057400"/>
            <a:ext cx="1737360" cy="1737360"/>
          </a:xfrm>
          <a:prstGeom prst="ellipse">
            <a:avLst/>
          </a:prstGeom>
          <a:solidFill>
            <a:srgbClr val="F7C54C">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77639"/>
            <a:ext cx="3566160" cy="2011680"/>
          </a:xfrm>
          <a:prstGeom prst="rect">
            <a:avLst/>
          </a:prstGeom>
          <a:noFill/>
        </p:spPr>
        <p:txBody>
          <a:bodyPr wrap="square" anchor="t" lIns="0" rIns="0" tIns="0" bIns="0">
            <a:spAutoFit/>
          </a:bodyPr>
          <a:lstStyle/>
          <a:p>
            <a:pPr algn="ctr">
              <a:lnSpc>
                <a:spcPct val="115000"/>
              </a:lnSpc>
              <a:spcAft>
                <a:spcPts val="400"/>
              </a:spcAft>
            </a:pPr>
            <a:r>
              <a:rPr sz="2800" b="1">
                <a:solidFill>
                  <a:srgbClr val="FFFFFF"/>
                </a:solidFill>
                <a:latin typeface="Yu Gothic"/>
              </a:rPr>
              <a:t>倉田 速音</a:t>
            </a:r>
          </a:p>
          <a:p>
            <a:pPr algn="ctr">
              <a:lnSpc>
                <a:spcPct val="115000"/>
              </a:lnSpc>
              <a:spcAft>
                <a:spcPts val="1200"/>
              </a:spcAft>
            </a:pPr>
            <a:r>
              <a:rPr sz="1500" b="0">
                <a:solidFill>
                  <a:srgbClr val="7EC8E3"/>
                </a:solidFill>
                <a:latin typeface="Yu Gothic"/>
              </a:rPr>
              <a:t>Hayato Kurata</a:t>
            </a:r>
          </a:p>
          <a:p>
            <a:pPr algn="ctr">
              <a:lnSpc>
                <a:spcPct val="115000"/>
              </a:lnSpc>
              <a:spcAft>
                <a:spcPts val="400"/>
              </a:spcAft>
            </a:pPr>
            <a:r>
              <a:rPr sz="1300" b="0">
                <a:solidFill>
                  <a:srgbClr val="FFFFFF"/>
                </a:solidFill>
                <a:latin typeface="Yu Gothic"/>
              </a:rPr>
              <a:t>株式会社HAYATO KURATA 代表（CEO）</a:t>
            </a:r>
          </a:p>
          <a:p>
            <a:pPr algn="ctr">
              <a:lnSpc>
                <a:spcPct val="115000"/>
              </a:lnSpc>
              <a:spcAft>
                <a:spcPts val="600"/>
              </a:spcAft>
            </a:pPr>
            <a:r>
              <a:rPr sz="1300" b="0">
                <a:solidFill>
                  <a:srgbClr val="FFFFFF"/>
                </a:solidFill>
                <a:latin typeface="Yu Gothic"/>
              </a:rPr>
              <a:t>角川ドワンゴ学園 N高等学校 起業部 出身</a:t>
            </a:r>
          </a:p>
        </p:txBody>
      </p:sp>
      <p:sp>
        <p:nvSpPr>
          <p:cNvPr id="10" name="TextBox 9"/>
          <p:cNvSpPr txBox="1"/>
          <p:nvPr/>
        </p:nvSpPr>
        <p:spPr>
          <a:xfrm>
            <a:off x="5029200" y="1965960"/>
            <a:ext cx="6583680" cy="4023360"/>
          </a:xfrm>
          <a:prstGeom prst="rect">
            <a:avLst/>
          </a:prstGeom>
          <a:noFill/>
        </p:spPr>
        <p:txBody>
          <a:bodyPr wrap="square" anchor="t" lIns="0" rIns="0" tIns="0" bIns="0">
            <a:spAutoFit/>
          </a:bodyPr>
          <a:lstStyle/>
          <a:p>
            <a:pPr>
              <a:lnSpc>
                <a:spcPct val="120000"/>
              </a:lnSpc>
              <a:spcAft>
                <a:spcPts val="1600"/>
              </a:spcAft>
            </a:pPr>
            <a:r>
              <a:rPr sz="1800" b="1">
                <a:solidFill>
                  <a:srgbClr val="F28C3B"/>
                </a:solidFill>
                <a:latin typeface="Yu Gothic"/>
              </a:rPr>
              <a:t>●  </a:t>
            </a:r>
            <a:r>
              <a:rPr sz="1800">
                <a:solidFill>
                  <a:srgbClr val="222A3A"/>
                </a:solidFill>
                <a:latin typeface="Yu Gothic"/>
              </a:rPr>
              <a:t>尋常性白斑（難病）と向き合いながら活動する若き起業家。</a:t>
            </a:r>
          </a:p>
          <a:p>
            <a:pPr>
              <a:lnSpc>
                <a:spcPct val="120000"/>
              </a:lnSpc>
              <a:spcAft>
                <a:spcPts val="1600"/>
              </a:spcAft>
            </a:pPr>
            <a:r>
              <a:rPr sz="1800" b="1">
                <a:solidFill>
                  <a:srgbClr val="F28C3B"/>
                </a:solidFill>
                <a:latin typeface="Yu Gothic"/>
              </a:rPr>
              <a:t>●  </a:t>
            </a:r>
            <a:r>
              <a:rPr sz="1800">
                <a:solidFill>
                  <a:srgbClr val="222A3A"/>
                </a:solidFill>
                <a:latin typeface="Yu Gothic"/>
              </a:rPr>
              <a:t>小学5年生で発症し、紫外線を避ける生活を余儀なくされた当事者。</a:t>
            </a:r>
          </a:p>
          <a:p>
            <a:pPr>
              <a:lnSpc>
                <a:spcPct val="120000"/>
              </a:lnSpc>
              <a:spcAft>
                <a:spcPts val="1600"/>
              </a:spcAft>
            </a:pPr>
            <a:r>
              <a:rPr sz="1800" b="1">
                <a:solidFill>
                  <a:srgbClr val="F28C3B"/>
                </a:solidFill>
                <a:latin typeface="Yu Gothic"/>
              </a:rPr>
              <a:t>●  </a:t>
            </a:r>
            <a:r>
              <a:rPr sz="1800">
                <a:solidFill>
                  <a:srgbClr val="222A3A"/>
                </a:solidFill>
                <a:latin typeface="Yu Gothic"/>
              </a:rPr>
              <a:t>自身の経験を起点に、同じ悩みを持つ人のための洋服づくりを決意。</a:t>
            </a:r>
          </a:p>
          <a:p>
            <a:pPr>
              <a:lnSpc>
                <a:spcPct val="120000"/>
              </a:lnSpc>
              <a:spcAft>
                <a:spcPts val="1600"/>
              </a:spcAft>
            </a:pPr>
            <a:r>
              <a:rPr sz="1800" b="1">
                <a:solidFill>
                  <a:srgbClr val="F28C3B"/>
                </a:solidFill>
                <a:latin typeface="Yu Gothic"/>
              </a:rPr>
              <a:t>●  </a:t>
            </a:r>
            <a:r>
              <a:rPr sz="1800">
                <a:solidFill>
                  <a:srgbClr val="222A3A"/>
                </a:solidFill>
                <a:latin typeface="Yu Gothic"/>
              </a:rPr>
              <a:t>高校在学中（N高 起業部）にファッションブランドを起業。</a:t>
            </a:r>
          </a:p>
          <a:p>
            <a:pPr>
              <a:lnSpc>
                <a:spcPct val="120000"/>
              </a:lnSpc>
              <a:spcAft>
                <a:spcPts val="1600"/>
              </a:spcAft>
            </a:pPr>
            <a:r>
              <a:rPr sz="1800" b="1">
                <a:solidFill>
                  <a:srgbClr val="F28C3B"/>
                </a:solidFill>
                <a:latin typeface="Yu Gothic"/>
              </a:rPr>
              <a:t>●  </a:t>
            </a:r>
            <a:r>
              <a:rPr sz="1800">
                <a:solidFill>
                  <a:srgbClr val="222A3A"/>
                </a:solidFill>
                <a:latin typeface="Yu Gothic"/>
              </a:rPr>
              <a:t>掲げるビジョンは「5年後には世界へ」。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BACKGROUND</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原点 ── 尋常性白斑という難病</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3</a:t>
            </a:r>
          </a:p>
        </p:txBody>
      </p:sp>
      <p:sp>
        <p:nvSpPr>
          <p:cNvPr id="7" name="TextBox 6"/>
          <p:cNvSpPr txBox="1"/>
          <p:nvPr/>
        </p:nvSpPr>
        <p:spPr>
          <a:xfrm>
            <a:off x="640080" y="1828800"/>
            <a:ext cx="10972800" cy="1097280"/>
          </a:xfrm>
          <a:prstGeom prst="rect">
            <a:avLst/>
          </a:prstGeom>
          <a:noFill/>
        </p:spPr>
        <p:txBody>
          <a:bodyPr wrap="square" anchor="t" lIns="0" rIns="0" tIns="0" bIns="0">
            <a:spAutoFit/>
          </a:bodyPr>
          <a:lstStyle/>
          <a:p>
            <a:pPr>
              <a:lnSpc>
                <a:spcPct val="120000"/>
              </a:lnSpc>
              <a:spcAft>
                <a:spcPts val="600"/>
              </a:spcAft>
            </a:pPr>
            <a:r>
              <a:rPr sz="1800">
                <a:solidFill>
                  <a:srgbClr val="222A3A"/>
                </a:solidFill>
                <a:latin typeface="Yu Gothic"/>
              </a:rPr>
              <a:t>尋常性白斑（じんじょうせいはくはん）は、皮膚の色素が失われ</a:t>
            </a:r>
          </a:p>
          <a:p>
            <a:pPr>
              <a:lnSpc>
                <a:spcPct val="120000"/>
              </a:lnSpc>
              <a:spcAft>
                <a:spcPts val="600"/>
              </a:spcAft>
            </a:pPr>
            <a:r>
              <a:rPr sz="1800">
                <a:solidFill>
                  <a:srgbClr val="222A3A"/>
                </a:solidFill>
                <a:latin typeface="Yu Gothic"/>
              </a:rPr>
              <a:t>白い斑点が広がる難病。倉田さんは小学5年生で発症した。</a:t>
            </a:r>
          </a:p>
        </p:txBody>
      </p:sp>
      <p:sp>
        <p:nvSpPr>
          <p:cNvPr id="8" name="Rectangle 7"/>
          <p:cNvSpPr/>
          <p:nvPr/>
        </p:nvSpPr>
        <p:spPr>
          <a:xfrm>
            <a:off x="640080" y="3108960"/>
            <a:ext cx="3520440" cy="27432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08960"/>
            <a:ext cx="3520440" cy="109728"/>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83280"/>
            <a:ext cx="3063240" cy="22860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約100人に1人</a:t>
            </a:r>
          </a:p>
          <a:p>
            <a:pPr algn="l">
              <a:lnSpc>
                <a:spcPct val="120000"/>
              </a:lnSpc>
              <a:spcAft>
                <a:spcPts val="300"/>
              </a:spcAft>
            </a:pPr>
            <a:r>
              <a:rPr sz="1300" b="0">
                <a:solidFill>
                  <a:srgbClr val="5B6677"/>
                </a:solidFill>
                <a:latin typeface="Yu Gothic"/>
              </a:rPr>
              <a:t>国内の患者は約100万人と</a:t>
            </a:r>
          </a:p>
          <a:p>
            <a:pPr algn="l">
              <a:lnSpc>
                <a:spcPct val="120000"/>
              </a:lnSpc>
              <a:spcAft>
                <a:spcPts val="300"/>
              </a:spcAft>
            </a:pPr>
            <a:r>
              <a:rPr sz="1300" b="0">
                <a:solidFill>
                  <a:srgbClr val="5B6677"/>
                </a:solidFill>
                <a:latin typeface="Yu Gothic"/>
              </a:rPr>
              <a:t>いわれ、決して珍しくない。</a:t>
            </a:r>
          </a:p>
          <a:p>
            <a:pPr algn="l">
              <a:lnSpc>
                <a:spcPct val="120000"/>
              </a:lnSpc>
              <a:spcAft>
                <a:spcPts val="300"/>
              </a:spcAft>
            </a:pPr>
            <a:r>
              <a:rPr sz="1300" b="0">
                <a:solidFill>
                  <a:srgbClr val="5B6677"/>
                </a:solidFill>
                <a:latin typeface="Yu Gothic"/>
              </a:rPr>
              <a:t>しかし社会の認知は低い。</a:t>
            </a:r>
          </a:p>
        </p:txBody>
      </p:sp>
      <p:sp>
        <p:nvSpPr>
          <p:cNvPr id="11" name="Rectangle 10"/>
          <p:cNvSpPr/>
          <p:nvPr/>
        </p:nvSpPr>
        <p:spPr>
          <a:xfrm>
            <a:off x="4343400" y="3108960"/>
            <a:ext cx="3520440" cy="27432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3108960"/>
            <a:ext cx="3520440" cy="109728"/>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383280"/>
            <a:ext cx="3063240" cy="22860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紫外線が大敵</a:t>
            </a:r>
          </a:p>
          <a:p>
            <a:pPr algn="l">
              <a:lnSpc>
                <a:spcPct val="120000"/>
              </a:lnSpc>
              <a:spcAft>
                <a:spcPts val="300"/>
              </a:spcAft>
            </a:pPr>
            <a:r>
              <a:rPr sz="1300" b="0">
                <a:solidFill>
                  <a:srgbClr val="5B6677"/>
                </a:solidFill>
                <a:latin typeface="Yu Gothic"/>
              </a:rPr>
              <a:t>日光を浴びると肌が腫れ、</a:t>
            </a:r>
          </a:p>
          <a:p>
            <a:pPr algn="l">
              <a:lnSpc>
                <a:spcPct val="120000"/>
              </a:lnSpc>
              <a:spcAft>
                <a:spcPts val="300"/>
              </a:spcAft>
            </a:pPr>
            <a:r>
              <a:rPr sz="1300" b="0">
                <a:solidFill>
                  <a:srgbClr val="5B6677"/>
                </a:solidFill>
                <a:latin typeface="Yu Gothic"/>
              </a:rPr>
              <a:t>皮膚がんのリスクも。外出を</a:t>
            </a:r>
          </a:p>
          <a:p>
            <a:pPr algn="l">
              <a:lnSpc>
                <a:spcPct val="120000"/>
              </a:lnSpc>
              <a:spcAft>
                <a:spcPts val="300"/>
              </a:spcAft>
            </a:pPr>
            <a:r>
              <a:rPr sz="1300" b="0">
                <a:solidFill>
                  <a:srgbClr val="5B6677"/>
                </a:solidFill>
                <a:latin typeface="Yu Gothic"/>
              </a:rPr>
              <a:t>避ける生活を強いられた。</a:t>
            </a:r>
          </a:p>
        </p:txBody>
      </p:sp>
      <p:sp>
        <p:nvSpPr>
          <p:cNvPr id="14" name="Rectangle 13"/>
          <p:cNvSpPr/>
          <p:nvPr/>
        </p:nvSpPr>
        <p:spPr>
          <a:xfrm>
            <a:off x="8046720" y="3108960"/>
            <a:ext cx="3520440" cy="27432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3108960"/>
            <a:ext cx="3520440" cy="109728"/>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383280"/>
            <a:ext cx="3063240" cy="22860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見た目の悩み</a:t>
            </a:r>
          </a:p>
          <a:p>
            <a:pPr algn="l">
              <a:lnSpc>
                <a:spcPct val="120000"/>
              </a:lnSpc>
              <a:spcAft>
                <a:spcPts val="300"/>
              </a:spcAft>
            </a:pPr>
            <a:r>
              <a:rPr sz="1300" b="0">
                <a:solidFill>
                  <a:srgbClr val="5B6677"/>
                </a:solidFill>
                <a:latin typeface="Yu Gothic"/>
              </a:rPr>
              <a:t>顔や体に広がる白い斑点。</a:t>
            </a:r>
          </a:p>
          <a:p>
            <a:pPr algn="l">
              <a:lnSpc>
                <a:spcPct val="120000"/>
              </a:lnSpc>
              <a:spcAft>
                <a:spcPts val="300"/>
              </a:spcAft>
            </a:pPr>
            <a:r>
              <a:rPr sz="1300" b="0">
                <a:solidFill>
                  <a:srgbClr val="5B6677"/>
                </a:solidFill>
                <a:latin typeface="Yu Gothic"/>
              </a:rPr>
              <a:t>いじめや偏見を経験し、</a:t>
            </a:r>
          </a:p>
          <a:p>
            <a:pPr algn="l">
              <a:lnSpc>
                <a:spcPct val="120000"/>
              </a:lnSpc>
              <a:spcAft>
                <a:spcPts val="300"/>
              </a:spcAft>
            </a:pPr>
            <a:r>
              <a:rPr sz="1300" b="0">
                <a:solidFill>
                  <a:srgbClr val="5B6677"/>
                </a:solidFill>
                <a:latin typeface="Yu Gothic"/>
              </a:rPr>
              <a:t>自己肯定感も低下した。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TURNING POINT</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「避ける」から「楽しむ」へ</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4</a:t>
            </a:r>
          </a:p>
        </p:txBody>
      </p:sp>
      <p:sp>
        <p:nvSpPr>
          <p:cNvPr id="7" name="Rectangle 6"/>
          <p:cNvSpPr/>
          <p:nvPr/>
        </p:nvSpPr>
        <p:spPr>
          <a:xfrm>
            <a:off x="640080" y="1920240"/>
            <a:ext cx="10972800" cy="17373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20240"/>
            <a:ext cx="128016" cy="173736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57400"/>
            <a:ext cx="10241280" cy="1463040"/>
          </a:xfrm>
          <a:prstGeom prst="rect">
            <a:avLst/>
          </a:prstGeom>
          <a:noFill/>
        </p:spPr>
        <p:txBody>
          <a:bodyPr wrap="square" anchor="ctr" lIns="0" rIns="0" tIns="0" bIns="0">
            <a:spAutoFit/>
          </a:bodyPr>
          <a:lstStyle/>
          <a:p>
            <a:pPr algn="l">
              <a:lnSpc>
                <a:spcPct val="125000"/>
              </a:lnSpc>
              <a:spcAft>
                <a:spcPts val="600"/>
              </a:spcAft>
            </a:pPr>
            <a:r>
              <a:rPr sz="2400" b="1">
                <a:solidFill>
                  <a:srgbClr val="1B2A4A"/>
                </a:solidFill>
                <a:latin typeface="Yu Gothic"/>
              </a:rPr>
              <a:t>「同じ病気の人が、太陽の下でも安心して楽しめる洋服をつくりたい。」</a:t>
            </a:r>
          </a:p>
        </p:txBody>
      </p:sp>
      <p:sp>
        <p:nvSpPr>
          <p:cNvPr id="10" name="TextBox 9"/>
          <p:cNvSpPr txBox="1"/>
          <p:nvPr/>
        </p:nvSpPr>
        <p:spPr>
          <a:xfrm>
            <a:off x="640080" y="4114800"/>
            <a:ext cx="10972800" cy="2194560"/>
          </a:xfrm>
          <a:prstGeom prst="rect">
            <a:avLst/>
          </a:prstGeom>
          <a:noFill/>
        </p:spPr>
        <p:txBody>
          <a:bodyPr wrap="square" anchor="t" lIns="0" rIns="0" tIns="0" bIns="0">
            <a:spAutoFit/>
          </a:bodyPr>
          <a:lstStyle/>
          <a:p>
            <a:pPr>
              <a:lnSpc>
                <a:spcPct val="120000"/>
              </a:lnSpc>
              <a:spcAft>
                <a:spcPts val="1600"/>
              </a:spcAft>
            </a:pPr>
            <a:r>
              <a:rPr sz="1800" b="1">
                <a:solidFill>
                  <a:srgbClr val="F28C3B"/>
                </a:solidFill>
                <a:latin typeface="Yu Gothic"/>
              </a:rPr>
              <a:t>→  </a:t>
            </a:r>
            <a:r>
              <a:rPr sz="1800">
                <a:solidFill>
                  <a:srgbClr val="222A3A"/>
                </a:solidFill>
                <a:latin typeface="Yu Gothic"/>
              </a:rPr>
              <a:t>紫外線を避け、人目を気にする日々。その経験を“ばね”に変えた。</a:t>
            </a:r>
          </a:p>
          <a:p>
            <a:pPr>
              <a:lnSpc>
                <a:spcPct val="120000"/>
              </a:lnSpc>
              <a:spcAft>
                <a:spcPts val="1600"/>
              </a:spcAft>
            </a:pPr>
            <a:r>
              <a:rPr sz="1800" b="1">
                <a:solidFill>
                  <a:srgbClr val="F28C3B"/>
                </a:solidFill>
                <a:latin typeface="Yu Gothic"/>
              </a:rPr>
              <a:t>→  </a:t>
            </a:r>
            <a:r>
              <a:rPr sz="1800">
                <a:solidFill>
                  <a:srgbClr val="222A3A"/>
                </a:solidFill>
                <a:latin typeface="Yu Gothic"/>
              </a:rPr>
              <a:t>「自分の難病を、みんなと一緒に克服する」という想いへ。</a:t>
            </a:r>
          </a:p>
          <a:p>
            <a:pPr>
              <a:lnSpc>
                <a:spcPct val="120000"/>
              </a:lnSpc>
              <a:spcAft>
                <a:spcPts val="1600"/>
              </a:spcAft>
            </a:pPr>
            <a:r>
              <a:rPr sz="1800" b="1">
                <a:solidFill>
                  <a:srgbClr val="F28C3B"/>
                </a:solidFill>
                <a:latin typeface="Yu Gothic"/>
              </a:rPr>
              <a:t>→  </a:t>
            </a:r>
            <a:r>
              <a:rPr sz="1800">
                <a:solidFill>
                  <a:srgbClr val="222A3A"/>
                </a:solidFill>
                <a:latin typeface="Yu Gothic"/>
              </a:rPr>
              <a:t>当事者だからこそ届けられる価値を、ファッションで形にすると決意。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FOUNDING</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株式会社 HAYATO KURATA の設立</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5</a:t>
            </a:r>
          </a:p>
        </p:txBody>
      </p:sp>
      <p:sp>
        <p:nvSpPr>
          <p:cNvPr id="7" name="TextBox 6"/>
          <p:cNvSpPr txBox="1"/>
          <p:nvPr/>
        </p:nvSpPr>
        <p:spPr>
          <a:xfrm>
            <a:off x="640080" y="1828800"/>
            <a:ext cx="11155680" cy="2377440"/>
          </a:xfrm>
          <a:prstGeom prst="rect">
            <a:avLst/>
          </a:prstGeom>
          <a:noFill/>
        </p:spPr>
        <p:txBody>
          <a:bodyPr wrap="square" anchor="t" lIns="0" rIns="0" tIns="0" bIns="0">
            <a:spAutoFit/>
          </a:bodyPr>
          <a:lstStyle/>
          <a:p>
            <a:pPr>
              <a:lnSpc>
                <a:spcPct val="120000"/>
              </a:lnSpc>
              <a:spcAft>
                <a:spcPts val="1200"/>
              </a:spcAft>
            </a:pPr>
            <a:r>
              <a:rPr sz="1700" b="1">
                <a:solidFill>
                  <a:srgbClr val="F28C3B"/>
                </a:solidFill>
                <a:latin typeface="Yu Gothic"/>
              </a:rPr>
              <a:t>●  </a:t>
            </a:r>
            <a:r>
              <a:rPr sz="1700">
                <a:solidFill>
                  <a:srgbClr val="222A3A"/>
                </a:solidFill>
                <a:latin typeface="Yu Gothic"/>
              </a:rPr>
              <a:t>N高 起業部から生まれた法人。アパレル企業（アミアズ株式会社）に</a:t>
            </a:r>
          </a:p>
          <a:p>
            <a:pPr>
              <a:lnSpc>
                <a:spcPct val="120000"/>
              </a:lnSpc>
              <a:spcAft>
                <a:spcPts val="1200"/>
              </a:spcAft>
            </a:pPr>
            <a:r>
              <a:rPr sz="1700">
                <a:solidFill>
                  <a:srgbClr val="222A3A"/>
                </a:solidFill>
                <a:latin typeface="Yu Gothic"/>
              </a:rPr>
              <a:t>    企画を持ち込み、2年余りの指導を受けて事業化を進めた。</a:t>
            </a:r>
          </a:p>
          <a:p>
            <a:pPr>
              <a:lnSpc>
                <a:spcPct val="120000"/>
              </a:lnSpc>
              <a:spcAft>
                <a:spcPts val="1200"/>
              </a:spcAft>
            </a:pPr>
            <a:r>
              <a:rPr sz="1700" b="1">
                <a:solidFill>
                  <a:srgbClr val="F28C3B"/>
                </a:solidFill>
                <a:latin typeface="Yu Gothic"/>
              </a:rPr>
              <a:t>●  </a:t>
            </a:r>
            <a:r>
              <a:rPr sz="1700">
                <a:solidFill>
                  <a:srgbClr val="222A3A"/>
                </a:solidFill>
                <a:latin typeface="Yu Gothic"/>
              </a:rPr>
              <a:t>起業部からの法人登記 第3号として会社を設立。</a:t>
            </a:r>
          </a:p>
          <a:p>
            <a:pPr>
              <a:lnSpc>
                <a:spcPct val="120000"/>
              </a:lnSpc>
              <a:spcAft>
                <a:spcPts val="1200"/>
              </a:spcAft>
            </a:pPr>
            <a:r>
              <a:rPr sz="1700" b="1">
                <a:solidFill>
                  <a:srgbClr val="F28C3B"/>
                </a:solidFill>
                <a:latin typeface="Yu Gothic"/>
              </a:rPr>
              <a:t>●  </a:t>
            </a:r>
            <a:r>
              <a:rPr sz="1700">
                <a:solidFill>
                  <a:srgbClr val="222A3A"/>
                </a:solidFill>
                <a:latin typeface="Yu Gothic"/>
              </a:rPr>
              <a:t>2021年2月、クラウドファンディング（CAMPFIRE / GoodMorning）に挑戦。</a:t>
            </a:r>
          </a:p>
          <a:p>
            <a:pPr>
              <a:lnSpc>
                <a:spcPct val="120000"/>
              </a:lnSpc>
              <a:spcAft>
                <a:spcPts val="1200"/>
              </a:spcAft>
            </a:pPr>
            <a:r>
              <a:rPr sz="1700">
                <a:solidFill>
                  <a:srgbClr val="222A3A"/>
                </a:solidFill>
                <a:latin typeface="Yu Gothic"/>
              </a:rPr>
              <a:t>    目標金額 250万円。サンプル製作・商品化の資金を募った。</a:t>
            </a:r>
          </a:p>
        </p:txBody>
      </p:sp>
      <p:sp>
        <p:nvSpPr>
          <p:cNvPr id="8" name="Rectangle 7"/>
          <p:cNvSpPr/>
          <p:nvPr/>
        </p:nvSpPr>
        <p:spPr>
          <a:xfrm>
            <a:off x="640080" y="4572000"/>
            <a:ext cx="35204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572000"/>
            <a:ext cx="3520440" cy="109728"/>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46320"/>
            <a:ext cx="3063240" cy="109728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起業部 発</a:t>
            </a:r>
          </a:p>
          <a:p>
            <a:pPr algn="l">
              <a:lnSpc>
                <a:spcPct val="120000"/>
              </a:lnSpc>
              <a:spcAft>
                <a:spcPts val="300"/>
              </a:spcAft>
            </a:pPr>
            <a:r>
              <a:rPr sz="1300" b="0">
                <a:solidFill>
                  <a:srgbClr val="5B6677"/>
                </a:solidFill>
                <a:latin typeface="Yu Gothic"/>
              </a:rPr>
              <a:t>高校在学中に法人化した</a:t>
            </a:r>
          </a:p>
          <a:p>
            <a:pPr algn="l">
              <a:lnSpc>
                <a:spcPct val="120000"/>
              </a:lnSpc>
              <a:spcAft>
                <a:spcPts val="300"/>
              </a:spcAft>
            </a:pPr>
            <a:r>
              <a:rPr sz="1300" b="0">
                <a:solidFill>
                  <a:srgbClr val="5B6677"/>
                </a:solidFill>
                <a:latin typeface="Yu Gothic"/>
              </a:rPr>
              <a:t>学生起業家として注目。</a:t>
            </a:r>
          </a:p>
        </p:txBody>
      </p:sp>
      <p:sp>
        <p:nvSpPr>
          <p:cNvPr id="11" name="Rectangle 10"/>
          <p:cNvSpPr/>
          <p:nvPr/>
        </p:nvSpPr>
        <p:spPr>
          <a:xfrm>
            <a:off x="4343400" y="4572000"/>
            <a:ext cx="35204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4572000"/>
            <a:ext cx="3520440" cy="109728"/>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846320"/>
            <a:ext cx="3063240" cy="109728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目標 250万円</a:t>
            </a:r>
          </a:p>
          <a:p>
            <a:pPr algn="l">
              <a:lnSpc>
                <a:spcPct val="120000"/>
              </a:lnSpc>
              <a:spcAft>
                <a:spcPts val="300"/>
              </a:spcAft>
            </a:pPr>
            <a:r>
              <a:rPr sz="1300" b="0">
                <a:solidFill>
                  <a:srgbClr val="5B6677"/>
                </a:solidFill>
                <a:latin typeface="Yu Gothic"/>
              </a:rPr>
              <a:t>クラウドファンディングで</a:t>
            </a:r>
          </a:p>
          <a:p>
            <a:pPr algn="l">
              <a:lnSpc>
                <a:spcPct val="120000"/>
              </a:lnSpc>
              <a:spcAft>
                <a:spcPts val="300"/>
              </a:spcAft>
            </a:pPr>
            <a:r>
              <a:rPr sz="1300" b="0">
                <a:solidFill>
                  <a:srgbClr val="5B6677"/>
                </a:solidFill>
                <a:latin typeface="Yu Gothic"/>
              </a:rPr>
              <a:t>想いに共感する仲間を集めた。</a:t>
            </a:r>
          </a:p>
        </p:txBody>
      </p:sp>
      <p:sp>
        <p:nvSpPr>
          <p:cNvPr id="14" name="Rectangle 13"/>
          <p:cNvSpPr/>
          <p:nvPr/>
        </p:nvSpPr>
        <p:spPr>
          <a:xfrm>
            <a:off x="8046720" y="4572000"/>
            <a:ext cx="35204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4572000"/>
            <a:ext cx="3520440" cy="109728"/>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4846320"/>
            <a:ext cx="3063240" cy="109728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産学連携</a:t>
            </a:r>
          </a:p>
          <a:p>
            <a:pPr algn="l">
              <a:lnSpc>
                <a:spcPct val="120000"/>
              </a:lnSpc>
              <a:spcAft>
                <a:spcPts val="300"/>
              </a:spcAft>
            </a:pPr>
            <a:r>
              <a:rPr sz="1300" b="0">
                <a:solidFill>
                  <a:srgbClr val="5B6677"/>
                </a:solidFill>
                <a:latin typeface="Yu Gothic"/>
              </a:rPr>
              <a:t>プロのアパレル企業の</a:t>
            </a:r>
          </a:p>
          <a:p>
            <a:pPr algn="l">
              <a:lnSpc>
                <a:spcPct val="120000"/>
              </a:lnSpc>
              <a:spcAft>
                <a:spcPts val="300"/>
              </a:spcAft>
            </a:pPr>
            <a:r>
              <a:rPr sz="1300" b="0">
                <a:solidFill>
                  <a:srgbClr val="5B6677"/>
                </a:solidFill>
                <a:latin typeface="Yu Gothic"/>
              </a:rPr>
              <a:t>指導を受け本気で商品化。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PRODUCT</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ブランドが届けるもの</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6</a:t>
            </a:r>
          </a:p>
        </p:txBody>
      </p:sp>
      <p:sp>
        <p:nvSpPr>
          <p:cNvPr id="7" name="TextBox 6"/>
          <p:cNvSpPr txBox="1"/>
          <p:nvPr/>
        </p:nvSpPr>
        <p:spPr>
          <a:xfrm>
            <a:off x="640080" y="1828800"/>
            <a:ext cx="10972800" cy="1005840"/>
          </a:xfrm>
          <a:prstGeom prst="rect">
            <a:avLst/>
          </a:prstGeom>
          <a:noFill/>
        </p:spPr>
        <p:txBody>
          <a:bodyPr wrap="square" anchor="t" lIns="0" rIns="0" tIns="0" bIns="0">
            <a:spAutoFit/>
          </a:bodyPr>
          <a:lstStyle/>
          <a:p>
            <a:pPr>
              <a:lnSpc>
                <a:spcPct val="120000"/>
              </a:lnSpc>
              <a:spcAft>
                <a:spcPts val="600"/>
              </a:spcAft>
            </a:pPr>
            <a:r>
              <a:rPr sz="1800">
                <a:solidFill>
                  <a:srgbClr val="222A3A"/>
                </a:solidFill>
                <a:latin typeface="Yu Gothic"/>
              </a:rPr>
              <a:t>「紫外線を気にせず、おしゃれを楽しめる」。</a:t>
            </a:r>
          </a:p>
          <a:p>
            <a:pPr>
              <a:lnSpc>
                <a:spcPct val="120000"/>
              </a:lnSpc>
              <a:spcAft>
                <a:spcPts val="600"/>
              </a:spcAft>
            </a:pPr>
            <a:r>
              <a:rPr sz="1800">
                <a:solidFill>
                  <a:srgbClr val="222A3A"/>
                </a:solidFill>
                <a:latin typeface="Yu Gothic"/>
              </a:rPr>
              <a:t>UVカット機能とデザイン性を両立したエシカルファッションブランド。</a:t>
            </a:r>
          </a:p>
        </p:txBody>
      </p:sp>
      <p:sp>
        <p:nvSpPr>
          <p:cNvPr id="8" name="Rectangle 7"/>
          <p:cNvSpPr/>
          <p:nvPr/>
        </p:nvSpPr>
        <p:spPr>
          <a:xfrm>
            <a:off x="640080" y="3017520"/>
            <a:ext cx="3520440" cy="2834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017520"/>
            <a:ext cx="3520440" cy="109728"/>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91840"/>
            <a:ext cx="3063240" cy="237744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UVカットの服</a:t>
            </a:r>
          </a:p>
          <a:p>
            <a:pPr algn="l">
              <a:lnSpc>
                <a:spcPct val="120000"/>
              </a:lnSpc>
              <a:spcAft>
                <a:spcPts val="300"/>
              </a:spcAft>
            </a:pPr>
            <a:r>
              <a:rPr sz="1300" b="0">
                <a:solidFill>
                  <a:srgbClr val="5B6677"/>
                </a:solidFill>
                <a:latin typeface="Yu Gothic"/>
              </a:rPr>
              <a:t>紫外線を避ける必要がある</a:t>
            </a:r>
          </a:p>
          <a:p>
            <a:pPr algn="l">
              <a:lnSpc>
                <a:spcPct val="120000"/>
              </a:lnSpc>
              <a:spcAft>
                <a:spcPts val="300"/>
              </a:spcAft>
            </a:pPr>
            <a:r>
              <a:rPr sz="1300" b="0">
                <a:solidFill>
                  <a:srgbClr val="5B6677"/>
                </a:solidFill>
                <a:latin typeface="Yu Gothic"/>
              </a:rPr>
              <a:t>人が、太陽の下で安心して</a:t>
            </a:r>
          </a:p>
          <a:p>
            <a:pPr algn="l">
              <a:lnSpc>
                <a:spcPct val="120000"/>
              </a:lnSpc>
              <a:spcAft>
                <a:spcPts val="300"/>
              </a:spcAft>
            </a:pPr>
            <a:r>
              <a:rPr sz="1300" b="0">
                <a:solidFill>
                  <a:srgbClr val="5B6677"/>
                </a:solidFill>
                <a:latin typeface="Yu Gothic"/>
              </a:rPr>
              <a:t>外を歩けるための一着。</a:t>
            </a:r>
          </a:p>
        </p:txBody>
      </p:sp>
      <p:sp>
        <p:nvSpPr>
          <p:cNvPr id="11" name="Rectangle 10"/>
          <p:cNvSpPr/>
          <p:nvPr/>
        </p:nvSpPr>
        <p:spPr>
          <a:xfrm>
            <a:off x="4343400" y="3017520"/>
            <a:ext cx="3520440" cy="2834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3017520"/>
            <a:ext cx="3520440" cy="109728"/>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291840"/>
            <a:ext cx="3063240" cy="237744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色が変わる服</a:t>
            </a:r>
          </a:p>
          <a:p>
            <a:pPr algn="l">
              <a:lnSpc>
                <a:spcPct val="120000"/>
              </a:lnSpc>
              <a:spcAft>
                <a:spcPts val="300"/>
              </a:spcAft>
            </a:pPr>
            <a:r>
              <a:rPr sz="1300" b="0">
                <a:solidFill>
                  <a:srgbClr val="5B6677"/>
                </a:solidFill>
                <a:latin typeface="Yu Gothic"/>
              </a:rPr>
              <a:t>紫外線に反応して色が変わる</a:t>
            </a:r>
          </a:p>
          <a:p>
            <a:pPr algn="l">
              <a:lnSpc>
                <a:spcPct val="120000"/>
              </a:lnSpc>
              <a:spcAft>
                <a:spcPts val="300"/>
              </a:spcAft>
            </a:pPr>
            <a:r>
              <a:rPr sz="1300" b="0">
                <a:solidFill>
                  <a:srgbClr val="5B6677"/>
                </a:solidFill>
                <a:latin typeface="Yu Gothic"/>
              </a:rPr>
              <a:t>デザインも展開。“弱点”だった</a:t>
            </a:r>
          </a:p>
          <a:p>
            <a:pPr algn="l">
              <a:lnSpc>
                <a:spcPct val="120000"/>
              </a:lnSpc>
              <a:spcAft>
                <a:spcPts val="300"/>
              </a:spcAft>
            </a:pPr>
            <a:r>
              <a:rPr sz="1300" b="0">
                <a:solidFill>
                  <a:srgbClr val="5B6677"/>
                </a:solidFill>
                <a:latin typeface="Yu Gothic"/>
              </a:rPr>
              <a:t>紫外線を遊び心に変えた。</a:t>
            </a:r>
          </a:p>
        </p:txBody>
      </p:sp>
      <p:sp>
        <p:nvSpPr>
          <p:cNvPr id="14" name="Rectangle 13"/>
          <p:cNvSpPr/>
          <p:nvPr/>
        </p:nvSpPr>
        <p:spPr>
          <a:xfrm>
            <a:off x="8046720" y="3017520"/>
            <a:ext cx="3520440" cy="2834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3017520"/>
            <a:ext cx="3520440" cy="109728"/>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291840"/>
            <a:ext cx="3063240" cy="237744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誰のために</a:t>
            </a:r>
          </a:p>
          <a:p>
            <a:pPr algn="l">
              <a:lnSpc>
                <a:spcPct val="120000"/>
              </a:lnSpc>
              <a:spcAft>
                <a:spcPts val="300"/>
              </a:spcAft>
            </a:pPr>
            <a:r>
              <a:rPr sz="1300" b="0">
                <a:solidFill>
                  <a:srgbClr val="5B6677"/>
                </a:solidFill>
                <a:latin typeface="Yu Gothic"/>
              </a:rPr>
              <a:t>尋常性白斑・光線過敏症・</a:t>
            </a:r>
          </a:p>
          <a:p>
            <a:pPr algn="l">
              <a:lnSpc>
                <a:spcPct val="120000"/>
              </a:lnSpc>
              <a:spcAft>
                <a:spcPts val="300"/>
              </a:spcAft>
            </a:pPr>
            <a:r>
              <a:rPr sz="1300" b="0">
                <a:solidFill>
                  <a:srgbClr val="5B6677"/>
                </a:solidFill>
                <a:latin typeface="Yu Gothic"/>
              </a:rPr>
              <a:t>アルビノなど、UVを避けたい</a:t>
            </a:r>
          </a:p>
          <a:p>
            <a:pPr algn="l">
              <a:lnSpc>
                <a:spcPct val="120000"/>
              </a:lnSpc>
              <a:spcAft>
                <a:spcPts val="300"/>
              </a:spcAft>
            </a:pPr>
            <a:r>
              <a:rPr sz="1300" b="0">
                <a:solidFill>
                  <a:srgbClr val="5B6677"/>
                </a:solidFill>
                <a:latin typeface="Yu Gothic"/>
              </a:rPr>
              <a:t>すべての人へ。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2E6FB5"/>
              </a:gs>
              <a:gs pos="100000">
                <a:srgbClr val="F28C3B"/>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457200"/>
            <a:ext cx="2194560" cy="2194560"/>
          </a:xfrm>
          <a:prstGeom prst="ellipse">
            <a:avLst/>
          </a:prstGeom>
          <a:solidFill>
            <a:srgbClr val="F7C54C">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9144000" cy="457200"/>
          </a:xfrm>
          <a:prstGeom prst="rect">
            <a:avLst/>
          </a:prstGeom>
          <a:noFill/>
        </p:spPr>
        <p:txBody>
          <a:bodyPr wrap="square" anchor="t" lIns="0" rIns="0" tIns="0" bIns="0">
            <a:spAutoFit/>
          </a:bodyPr>
          <a:lstStyle/>
          <a:p>
            <a:pPr algn="l">
              <a:lnSpc>
                <a:spcPct val="115000"/>
              </a:lnSpc>
              <a:spcAft>
                <a:spcPts val="600"/>
              </a:spcAft>
            </a:pPr>
            <a:r>
              <a:rPr sz="1500" b="1">
                <a:solidFill>
                  <a:srgbClr val="FFFFFF"/>
                </a:solidFill>
                <a:latin typeface="Yu Gothic"/>
              </a:rPr>
              <a:t>DESIGN WORK</a:t>
            </a:r>
          </a:p>
        </p:txBody>
      </p:sp>
      <p:sp>
        <p:nvSpPr>
          <p:cNvPr id="6" name="TextBox 5"/>
          <p:cNvSpPr txBox="1"/>
          <p:nvPr/>
        </p:nvSpPr>
        <p:spPr>
          <a:xfrm>
            <a:off x="731520" y="1051560"/>
            <a:ext cx="9601200" cy="914400"/>
          </a:xfrm>
          <a:prstGeom prst="rect">
            <a:avLst/>
          </a:prstGeom>
          <a:noFill/>
        </p:spPr>
        <p:txBody>
          <a:bodyPr wrap="square" anchor="t" lIns="0" rIns="0" tIns="0" bIns="0">
            <a:spAutoFit/>
          </a:bodyPr>
          <a:lstStyle/>
          <a:p>
            <a:pPr algn="l">
              <a:lnSpc>
                <a:spcPct val="115000"/>
              </a:lnSpc>
              <a:spcAft>
                <a:spcPts val="600"/>
              </a:spcAft>
            </a:pPr>
            <a:r>
              <a:rPr sz="3600" b="1">
                <a:solidFill>
                  <a:srgbClr val="FFFFFF"/>
                </a:solidFill>
                <a:latin typeface="Yu Gothic"/>
              </a:rPr>
              <a:t>ソラ時々グラデーション</a:t>
            </a:r>
          </a:p>
        </p:txBody>
      </p:sp>
      <p:sp>
        <p:nvSpPr>
          <p:cNvPr id="7" name="TextBox 6"/>
          <p:cNvSpPr txBox="1"/>
          <p:nvPr/>
        </p:nvSpPr>
        <p:spPr>
          <a:xfrm>
            <a:off x="731520" y="2468880"/>
            <a:ext cx="10058400" cy="2377440"/>
          </a:xfrm>
          <a:prstGeom prst="rect">
            <a:avLst/>
          </a:prstGeom>
          <a:noFill/>
        </p:spPr>
        <p:txBody>
          <a:bodyPr wrap="square" anchor="t" lIns="0" rIns="0" tIns="0" bIns="0">
            <a:spAutoFit/>
          </a:bodyPr>
          <a:lstStyle/>
          <a:p>
            <a:pPr>
              <a:lnSpc>
                <a:spcPct val="120000"/>
              </a:lnSpc>
              <a:spcAft>
                <a:spcPts val="1800"/>
              </a:spcAft>
            </a:pPr>
            <a:r>
              <a:rPr sz="1900" b="1">
                <a:solidFill>
                  <a:srgbClr val="F28C3B"/>
                </a:solidFill>
                <a:latin typeface="Yu Gothic"/>
              </a:rPr>
              <a:t>◯  </a:t>
            </a:r>
            <a:r>
              <a:rPr sz="1900">
                <a:solidFill>
                  <a:srgbClr val="FFFFFF"/>
                </a:solidFill>
                <a:latin typeface="Yu Gothic"/>
              </a:rPr>
              <a:t>ファッションコンペ「FASHION FRONTIER PROGRAM」ファイナリストに選出。</a:t>
            </a:r>
          </a:p>
          <a:p>
            <a:pPr>
              <a:lnSpc>
                <a:spcPct val="120000"/>
              </a:lnSpc>
              <a:spcAft>
                <a:spcPts val="1800"/>
              </a:spcAft>
            </a:pPr>
            <a:r>
              <a:rPr sz="1900" b="1">
                <a:solidFill>
                  <a:srgbClr val="F28C3B"/>
                </a:solidFill>
                <a:latin typeface="Yu Gothic"/>
              </a:rPr>
              <a:t>◯  </a:t>
            </a:r>
            <a:r>
              <a:rPr sz="1900">
                <a:solidFill>
                  <a:srgbClr val="FFFFFF"/>
                </a:solidFill>
                <a:latin typeface="Yu Gothic"/>
              </a:rPr>
              <a:t>空の移ろい＝白斑やコンプレックスも“グラデーション”として肯定するメッセージ。</a:t>
            </a:r>
          </a:p>
          <a:p>
            <a:pPr>
              <a:lnSpc>
                <a:spcPct val="120000"/>
              </a:lnSpc>
              <a:spcAft>
                <a:spcPts val="1800"/>
              </a:spcAft>
            </a:pPr>
            <a:r>
              <a:rPr sz="1900" b="1">
                <a:solidFill>
                  <a:srgbClr val="F28C3B"/>
                </a:solidFill>
                <a:latin typeface="Yu Gothic"/>
              </a:rPr>
              <a:t>◯  </a:t>
            </a:r>
            <a:r>
              <a:rPr sz="1900">
                <a:solidFill>
                  <a:srgbClr val="FFFFFF"/>
                </a:solidFill>
                <a:latin typeface="Yu Gothic"/>
              </a:rPr>
              <a:t>「弱さ」を隠すのではなく、その人らしい美しさとして表現する姿勢。</a:t>
            </a:r>
          </a:p>
        </p:txBody>
      </p:sp>
      <p:sp>
        <p:nvSpPr>
          <p:cNvPr id="8" name="TextBox 7"/>
          <p:cNvSpPr txBox="1"/>
          <p:nvPr/>
        </p:nvSpPr>
        <p:spPr>
          <a:xfrm>
            <a:off x="777240" y="5212080"/>
            <a:ext cx="10058400" cy="914400"/>
          </a:xfrm>
          <a:prstGeom prst="rect">
            <a:avLst/>
          </a:prstGeom>
          <a:noFill/>
        </p:spPr>
        <p:txBody>
          <a:bodyPr wrap="square" anchor="t" lIns="0" rIns="0" tIns="0" bIns="0">
            <a:spAutoFit/>
          </a:bodyPr>
          <a:lstStyle/>
          <a:p>
            <a:pPr algn="l">
              <a:lnSpc>
                <a:spcPct val="115000"/>
              </a:lnSpc>
              <a:spcAft>
                <a:spcPts val="600"/>
              </a:spcAft>
            </a:pPr>
            <a:r>
              <a:rPr sz="1800" b="1">
                <a:solidFill>
                  <a:srgbClr val="1B2A4A"/>
                </a:solidFill>
                <a:latin typeface="Yu Gothic"/>
              </a:rPr>
              <a:t>── 当事者の物語を、社会へ伝えるクリエイションへ。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TIMELINE</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これまでの歩み</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8</a:t>
            </a:r>
          </a:p>
        </p:txBody>
      </p:sp>
      <p:sp>
        <p:nvSpPr>
          <p:cNvPr id="7" name="Rectangle 6"/>
          <p:cNvSpPr/>
          <p:nvPr/>
        </p:nvSpPr>
        <p:spPr>
          <a:xfrm>
            <a:off x="822960" y="3931920"/>
            <a:ext cx="10515600" cy="38100"/>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76656" y="3798316"/>
            <a:ext cx="292608" cy="29260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7160" y="2057400"/>
            <a:ext cx="19202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7160" y="2057400"/>
            <a:ext cx="19202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 y="2240280"/>
            <a:ext cx="1700784" cy="1325880"/>
          </a:xfrm>
          <a:prstGeom prst="rect">
            <a:avLst/>
          </a:prstGeom>
          <a:noFill/>
        </p:spPr>
        <p:txBody>
          <a:bodyPr wrap="square" anchor="t" lIns="0" rIns="0" tIns="0" bIns="0">
            <a:spAutoFit/>
          </a:bodyPr>
          <a:lstStyle/>
          <a:p>
            <a:pPr algn="l">
              <a:lnSpc>
                <a:spcPct val="115000"/>
              </a:lnSpc>
              <a:spcAft>
                <a:spcPts val="100"/>
              </a:spcAft>
            </a:pPr>
            <a:r>
              <a:rPr sz="1300" b="1">
                <a:solidFill>
                  <a:srgbClr val="1B2A4A"/>
                </a:solidFill>
                <a:latin typeface="Yu Gothic"/>
              </a:rPr>
              <a:t>小5</a:t>
            </a:r>
          </a:p>
          <a:p>
            <a:pPr algn="l">
              <a:lnSpc>
                <a:spcPct val="115000"/>
              </a:lnSpc>
              <a:spcAft>
                <a:spcPts val="400"/>
              </a:spcAft>
            </a:pPr>
            <a:r>
              <a:rPr sz="1600" b="1">
                <a:solidFill>
                  <a:srgbClr val="1B2A4A"/>
                </a:solidFill>
                <a:latin typeface="Yu Gothic"/>
              </a:rPr>
              <a:t>発症</a:t>
            </a:r>
          </a:p>
          <a:p>
            <a:pPr algn="l">
              <a:lnSpc>
                <a:spcPct val="115000"/>
              </a:lnSpc>
              <a:spcAft>
                <a:spcPts val="600"/>
              </a:spcAft>
            </a:pPr>
            <a:r>
              <a:rPr sz="1050" b="0">
                <a:solidFill>
                  <a:srgbClr val="5B6677"/>
                </a:solidFill>
                <a:latin typeface="Yu Gothic"/>
              </a:rPr>
              <a:t>尋常性白斑を発症。紫外線を避ける生活が始まる。</a:t>
            </a:r>
          </a:p>
        </p:txBody>
      </p:sp>
      <p:sp>
        <p:nvSpPr>
          <p:cNvPr id="12" name="Oval 11"/>
          <p:cNvSpPr/>
          <p:nvPr/>
        </p:nvSpPr>
        <p:spPr>
          <a:xfrm>
            <a:off x="3305556" y="3798316"/>
            <a:ext cx="292608" cy="292608"/>
          </a:xfrm>
          <a:prstGeom prst="ellipse">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91740" y="4343400"/>
            <a:ext cx="19202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91740" y="4343400"/>
            <a:ext cx="1920240" cy="91440"/>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1468" y="4526280"/>
            <a:ext cx="1700784" cy="1325880"/>
          </a:xfrm>
          <a:prstGeom prst="rect">
            <a:avLst/>
          </a:prstGeom>
          <a:noFill/>
        </p:spPr>
        <p:txBody>
          <a:bodyPr wrap="square" anchor="t" lIns="0" rIns="0" tIns="0" bIns="0">
            <a:spAutoFit/>
          </a:bodyPr>
          <a:lstStyle/>
          <a:p>
            <a:pPr algn="l">
              <a:lnSpc>
                <a:spcPct val="115000"/>
              </a:lnSpc>
              <a:spcAft>
                <a:spcPts val="100"/>
              </a:spcAft>
            </a:pPr>
            <a:r>
              <a:rPr sz="1300" b="1">
                <a:solidFill>
                  <a:srgbClr val="2E6FB5"/>
                </a:solidFill>
                <a:latin typeface="Yu Gothic"/>
              </a:rPr>
              <a:t>在学中</a:t>
            </a:r>
          </a:p>
          <a:p>
            <a:pPr algn="l">
              <a:lnSpc>
                <a:spcPct val="115000"/>
              </a:lnSpc>
              <a:spcAft>
                <a:spcPts val="400"/>
              </a:spcAft>
            </a:pPr>
            <a:r>
              <a:rPr sz="1600" b="1">
                <a:solidFill>
                  <a:srgbClr val="1B2A4A"/>
                </a:solidFill>
                <a:latin typeface="Yu Gothic"/>
              </a:rPr>
              <a:t>起業へ</a:t>
            </a:r>
          </a:p>
          <a:p>
            <a:pPr algn="l">
              <a:lnSpc>
                <a:spcPct val="115000"/>
              </a:lnSpc>
              <a:spcAft>
                <a:spcPts val="600"/>
              </a:spcAft>
            </a:pPr>
            <a:r>
              <a:rPr sz="1050" b="0">
                <a:solidFill>
                  <a:srgbClr val="5B6677"/>
                </a:solidFill>
                <a:latin typeface="Yu Gothic"/>
              </a:rPr>
              <a:t>N高 起業部で、当事者発のブランド構想を始動。</a:t>
            </a:r>
          </a:p>
        </p:txBody>
      </p:sp>
      <p:sp>
        <p:nvSpPr>
          <p:cNvPr id="16" name="Oval 15"/>
          <p:cNvSpPr/>
          <p:nvPr/>
        </p:nvSpPr>
        <p:spPr>
          <a:xfrm>
            <a:off x="5934456" y="3798316"/>
            <a:ext cx="292608" cy="292608"/>
          </a:xfrm>
          <a:prstGeom prst="ellipse">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0" y="2057400"/>
            <a:ext cx="19202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40" y="2057400"/>
            <a:ext cx="1920240" cy="9144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0368" y="2240280"/>
            <a:ext cx="1700784" cy="1325880"/>
          </a:xfrm>
          <a:prstGeom prst="rect">
            <a:avLst/>
          </a:prstGeom>
          <a:noFill/>
        </p:spPr>
        <p:txBody>
          <a:bodyPr wrap="square" anchor="t" lIns="0" rIns="0" tIns="0" bIns="0">
            <a:spAutoFit/>
          </a:bodyPr>
          <a:lstStyle/>
          <a:p>
            <a:pPr algn="l">
              <a:lnSpc>
                <a:spcPct val="115000"/>
              </a:lnSpc>
              <a:spcAft>
                <a:spcPts val="100"/>
              </a:spcAft>
            </a:pPr>
            <a:r>
              <a:rPr sz="1300" b="1">
                <a:solidFill>
                  <a:srgbClr val="F28C3B"/>
                </a:solidFill>
                <a:latin typeface="Yu Gothic"/>
              </a:rPr>
              <a:t>2020</a:t>
            </a:r>
          </a:p>
          <a:p>
            <a:pPr algn="l">
              <a:lnSpc>
                <a:spcPct val="115000"/>
              </a:lnSpc>
              <a:spcAft>
                <a:spcPts val="400"/>
              </a:spcAft>
            </a:pPr>
            <a:r>
              <a:rPr sz="1600" b="1">
                <a:solidFill>
                  <a:srgbClr val="1B2A4A"/>
                </a:solidFill>
                <a:latin typeface="Yu Gothic"/>
              </a:rPr>
              <a:t>会社設立</a:t>
            </a:r>
          </a:p>
          <a:p>
            <a:pPr algn="l">
              <a:lnSpc>
                <a:spcPct val="115000"/>
              </a:lnSpc>
              <a:spcAft>
                <a:spcPts val="600"/>
              </a:spcAft>
            </a:pPr>
            <a:r>
              <a:rPr sz="1050" b="0">
                <a:solidFill>
                  <a:srgbClr val="5B6677"/>
                </a:solidFill>
                <a:latin typeface="Yu Gothic"/>
              </a:rPr>
              <a:t>株式会社HAYATO KURATA を起業（登記第3号）。</a:t>
            </a:r>
          </a:p>
        </p:txBody>
      </p:sp>
      <p:sp>
        <p:nvSpPr>
          <p:cNvPr id="20" name="Oval 19"/>
          <p:cNvSpPr/>
          <p:nvPr/>
        </p:nvSpPr>
        <p:spPr>
          <a:xfrm>
            <a:off x="8563356" y="3798316"/>
            <a:ext cx="292608" cy="292608"/>
          </a:xfrm>
          <a:prstGeom prst="ellipse">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49540" y="4343400"/>
            <a:ext cx="19202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49540" y="4343400"/>
            <a:ext cx="1920240" cy="9144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59268" y="4526280"/>
            <a:ext cx="1700784" cy="1325880"/>
          </a:xfrm>
          <a:prstGeom prst="rect">
            <a:avLst/>
          </a:prstGeom>
          <a:noFill/>
        </p:spPr>
        <p:txBody>
          <a:bodyPr wrap="square" anchor="t" lIns="0" rIns="0" tIns="0" bIns="0">
            <a:spAutoFit/>
          </a:bodyPr>
          <a:lstStyle/>
          <a:p>
            <a:pPr algn="l">
              <a:lnSpc>
                <a:spcPct val="115000"/>
              </a:lnSpc>
              <a:spcAft>
                <a:spcPts val="100"/>
              </a:spcAft>
            </a:pPr>
            <a:r>
              <a:rPr sz="1300" b="1">
                <a:solidFill>
                  <a:srgbClr val="F7C54C"/>
                </a:solidFill>
                <a:latin typeface="Yu Gothic"/>
              </a:rPr>
              <a:t>2021</a:t>
            </a:r>
          </a:p>
          <a:p>
            <a:pPr algn="l">
              <a:lnSpc>
                <a:spcPct val="115000"/>
              </a:lnSpc>
              <a:spcAft>
                <a:spcPts val="400"/>
              </a:spcAft>
            </a:pPr>
            <a:r>
              <a:rPr sz="1600" b="1">
                <a:solidFill>
                  <a:srgbClr val="1B2A4A"/>
                </a:solidFill>
                <a:latin typeface="Yu Gothic"/>
              </a:rPr>
              <a:t>CF挑戦</a:t>
            </a:r>
          </a:p>
          <a:p>
            <a:pPr algn="l">
              <a:lnSpc>
                <a:spcPct val="115000"/>
              </a:lnSpc>
              <a:spcAft>
                <a:spcPts val="600"/>
              </a:spcAft>
            </a:pPr>
            <a:r>
              <a:rPr sz="1050" b="0">
                <a:solidFill>
                  <a:srgbClr val="5B6677"/>
                </a:solidFill>
                <a:latin typeface="Yu Gothic"/>
              </a:rPr>
              <a:t>クラウドファンディングで商品化へ。目標250万円。</a:t>
            </a:r>
          </a:p>
        </p:txBody>
      </p:sp>
      <p:sp>
        <p:nvSpPr>
          <p:cNvPr id="24" name="Oval 23"/>
          <p:cNvSpPr/>
          <p:nvPr/>
        </p:nvSpPr>
        <p:spPr>
          <a:xfrm>
            <a:off x="11192256" y="3798316"/>
            <a:ext cx="292608" cy="292608"/>
          </a:xfrm>
          <a:prstGeom prst="ellipse">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378440" y="2057400"/>
            <a:ext cx="1920240" cy="15544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78440" y="2057400"/>
            <a:ext cx="1920240" cy="91440"/>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88168" y="2240280"/>
            <a:ext cx="1700784" cy="1325880"/>
          </a:xfrm>
          <a:prstGeom prst="rect">
            <a:avLst/>
          </a:prstGeom>
          <a:noFill/>
        </p:spPr>
        <p:txBody>
          <a:bodyPr wrap="square" anchor="t" lIns="0" rIns="0" tIns="0" bIns="0">
            <a:spAutoFit/>
          </a:bodyPr>
          <a:lstStyle/>
          <a:p>
            <a:pPr algn="l">
              <a:lnSpc>
                <a:spcPct val="115000"/>
              </a:lnSpc>
              <a:spcAft>
                <a:spcPts val="100"/>
              </a:spcAft>
            </a:pPr>
            <a:r>
              <a:rPr sz="1300" b="1">
                <a:solidFill>
                  <a:srgbClr val="2E6FB5"/>
                </a:solidFill>
                <a:latin typeface="Yu Gothic"/>
              </a:rPr>
              <a:t>2022〜</a:t>
            </a:r>
          </a:p>
          <a:p>
            <a:pPr algn="l">
              <a:lnSpc>
                <a:spcPct val="115000"/>
              </a:lnSpc>
              <a:spcAft>
                <a:spcPts val="400"/>
              </a:spcAft>
            </a:pPr>
            <a:r>
              <a:rPr sz="1600" b="1">
                <a:solidFill>
                  <a:srgbClr val="1B2A4A"/>
                </a:solidFill>
                <a:latin typeface="Yu Gothic"/>
              </a:rPr>
              <a:t>展開</a:t>
            </a:r>
          </a:p>
          <a:p>
            <a:pPr algn="l">
              <a:lnSpc>
                <a:spcPct val="115000"/>
              </a:lnSpc>
              <a:spcAft>
                <a:spcPts val="600"/>
              </a:spcAft>
            </a:pPr>
            <a:r>
              <a:rPr sz="1050" b="0">
                <a:solidFill>
                  <a:srgbClr val="5B6677"/>
                </a:solidFill>
                <a:latin typeface="Yu Gothic"/>
              </a:rPr>
              <a:t>色が変わる服など新展開。受賞・メディアでも注目。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RECOGNITION</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広がる共感と注目</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9</a:t>
            </a:r>
          </a:p>
        </p:txBody>
      </p:sp>
      <p:sp>
        <p:nvSpPr>
          <p:cNvPr id="7" name="Rectangle 6"/>
          <p:cNvSpPr/>
          <p:nvPr/>
        </p:nvSpPr>
        <p:spPr>
          <a:xfrm>
            <a:off x="640080" y="2011680"/>
            <a:ext cx="3520440" cy="18288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11680"/>
            <a:ext cx="3520440" cy="109728"/>
          </a:xfrm>
          <a:prstGeom prst="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86000"/>
            <a:ext cx="3063240" cy="13716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メディア掲載</a:t>
            </a:r>
          </a:p>
          <a:p>
            <a:pPr algn="l">
              <a:lnSpc>
                <a:spcPct val="120000"/>
              </a:lnSpc>
              <a:spcAft>
                <a:spcPts val="300"/>
              </a:spcAft>
            </a:pPr>
            <a:r>
              <a:rPr sz="1300" b="0">
                <a:solidFill>
                  <a:srgbClr val="5B6677"/>
                </a:solidFill>
                <a:latin typeface="Yu Gothic"/>
              </a:rPr>
              <a:t>テレビ東京「生きるを伝える」</a:t>
            </a:r>
          </a:p>
          <a:p>
            <a:pPr algn="l">
              <a:lnSpc>
                <a:spcPct val="120000"/>
              </a:lnSpc>
              <a:spcAft>
                <a:spcPts val="300"/>
              </a:spcAft>
            </a:pPr>
            <a:r>
              <a:rPr sz="1300" b="0">
                <a:solidFill>
                  <a:srgbClr val="5B6677"/>
                </a:solidFill>
                <a:latin typeface="Yu Gothic"/>
              </a:rPr>
              <a:t>産経新聞 ほか各メディアで</a:t>
            </a:r>
          </a:p>
          <a:p>
            <a:pPr algn="l">
              <a:lnSpc>
                <a:spcPct val="120000"/>
              </a:lnSpc>
              <a:spcAft>
                <a:spcPts val="300"/>
              </a:spcAft>
            </a:pPr>
            <a:r>
              <a:rPr sz="1300" b="0">
                <a:solidFill>
                  <a:srgbClr val="5B6677"/>
                </a:solidFill>
                <a:latin typeface="Yu Gothic"/>
              </a:rPr>
              <a:t>活動が紹介された。</a:t>
            </a:r>
          </a:p>
        </p:txBody>
      </p:sp>
      <p:sp>
        <p:nvSpPr>
          <p:cNvPr id="10" name="Rectangle 9"/>
          <p:cNvSpPr/>
          <p:nvPr/>
        </p:nvSpPr>
        <p:spPr>
          <a:xfrm>
            <a:off x="4343400" y="2011680"/>
            <a:ext cx="3520440" cy="18288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011680"/>
            <a:ext cx="3520440" cy="109728"/>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286000"/>
            <a:ext cx="3063240" cy="13716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コンペ実績</a:t>
            </a:r>
          </a:p>
          <a:p>
            <a:pPr algn="l">
              <a:lnSpc>
                <a:spcPct val="120000"/>
              </a:lnSpc>
              <a:spcAft>
                <a:spcPts val="300"/>
              </a:spcAft>
            </a:pPr>
            <a:r>
              <a:rPr sz="1300" b="0">
                <a:solidFill>
                  <a:srgbClr val="5B6677"/>
                </a:solidFill>
                <a:latin typeface="Yu Gothic"/>
              </a:rPr>
              <a:t>FASHION FRONTIER</a:t>
            </a:r>
          </a:p>
          <a:p>
            <a:pPr algn="l">
              <a:lnSpc>
                <a:spcPct val="120000"/>
              </a:lnSpc>
              <a:spcAft>
                <a:spcPts val="300"/>
              </a:spcAft>
            </a:pPr>
            <a:r>
              <a:rPr sz="1300" b="0">
                <a:solidFill>
                  <a:srgbClr val="5B6677"/>
                </a:solidFill>
                <a:latin typeface="Yu Gothic"/>
              </a:rPr>
              <a:t>PROGRAM ファイナリスト。</a:t>
            </a:r>
          </a:p>
          <a:p>
            <a:pPr algn="l">
              <a:lnSpc>
                <a:spcPct val="120000"/>
              </a:lnSpc>
              <a:spcAft>
                <a:spcPts val="300"/>
              </a:spcAft>
            </a:pPr>
            <a:r>
              <a:rPr sz="1300" b="0">
                <a:solidFill>
                  <a:srgbClr val="5B6677"/>
                </a:solidFill>
                <a:latin typeface="Yu Gothic"/>
              </a:rPr>
              <a:t>創作面でも高い評価。</a:t>
            </a:r>
          </a:p>
        </p:txBody>
      </p:sp>
      <p:sp>
        <p:nvSpPr>
          <p:cNvPr id="13" name="Rectangle 12"/>
          <p:cNvSpPr/>
          <p:nvPr/>
        </p:nvSpPr>
        <p:spPr>
          <a:xfrm>
            <a:off x="8046720" y="2011680"/>
            <a:ext cx="3520440" cy="18288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2011680"/>
            <a:ext cx="3520440" cy="109728"/>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286000"/>
            <a:ext cx="3063240" cy="1371600"/>
          </a:xfrm>
          <a:prstGeom prst="rect">
            <a:avLst/>
          </a:prstGeom>
          <a:noFill/>
        </p:spPr>
        <p:txBody>
          <a:bodyPr wrap="square" anchor="t" lIns="0" rIns="0" tIns="0" bIns="0">
            <a:spAutoFit/>
          </a:bodyPr>
          <a:lstStyle/>
          <a:p>
            <a:pPr algn="l">
              <a:lnSpc>
                <a:spcPct val="115000"/>
              </a:lnSpc>
              <a:spcAft>
                <a:spcPts val="600"/>
              </a:spcAft>
            </a:pPr>
            <a:r>
              <a:rPr sz="1700" b="1">
                <a:solidFill>
                  <a:srgbClr val="1B2A4A"/>
                </a:solidFill>
                <a:latin typeface="Yu Gothic"/>
              </a:rPr>
              <a:t>若手起業家</a:t>
            </a:r>
          </a:p>
          <a:p>
            <a:pPr algn="l">
              <a:lnSpc>
                <a:spcPct val="120000"/>
              </a:lnSpc>
              <a:spcAft>
                <a:spcPts val="300"/>
              </a:spcAft>
            </a:pPr>
            <a:r>
              <a:rPr sz="1300" b="0">
                <a:solidFill>
                  <a:srgbClr val="5B6677"/>
                </a:solidFill>
                <a:latin typeface="Yu Gothic"/>
              </a:rPr>
              <a:t>MAKERS UNIVERSITY U-18</a:t>
            </a:r>
          </a:p>
          <a:p>
            <a:pPr algn="l">
              <a:lnSpc>
                <a:spcPct val="120000"/>
              </a:lnSpc>
              <a:spcAft>
                <a:spcPts val="300"/>
              </a:spcAft>
            </a:pPr>
            <a:r>
              <a:rPr sz="1300" b="0">
                <a:solidFill>
                  <a:srgbClr val="5B6677"/>
                </a:solidFill>
                <a:latin typeface="Yu Gothic"/>
              </a:rPr>
              <a:t>など、次世代の挑戦者として</a:t>
            </a:r>
          </a:p>
          <a:p>
            <a:pPr algn="l">
              <a:lnSpc>
                <a:spcPct val="120000"/>
              </a:lnSpc>
              <a:spcAft>
                <a:spcPts val="300"/>
              </a:spcAft>
            </a:pPr>
            <a:r>
              <a:rPr sz="1300" b="0">
                <a:solidFill>
                  <a:srgbClr val="5B6677"/>
                </a:solidFill>
                <a:latin typeface="Yu Gothic"/>
              </a:rPr>
              <a:t>取り上げられる。</a:t>
            </a:r>
          </a:p>
        </p:txBody>
      </p:sp>
      <p:sp>
        <p:nvSpPr>
          <p:cNvPr id="16" name="Rectangle 15"/>
          <p:cNvSpPr/>
          <p:nvPr/>
        </p:nvSpPr>
        <p:spPr>
          <a:xfrm>
            <a:off x="640080" y="4206240"/>
            <a:ext cx="10927080" cy="1737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389120"/>
            <a:ext cx="10241280" cy="1371600"/>
          </a:xfrm>
          <a:prstGeom prst="rect">
            <a:avLst/>
          </a:prstGeom>
          <a:noFill/>
        </p:spPr>
        <p:txBody>
          <a:bodyPr wrap="square" anchor="ctr" lIns="0" rIns="0" tIns="0" bIns="0">
            <a:spAutoFit/>
          </a:bodyPr>
          <a:lstStyle/>
          <a:p>
            <a:pPr algn="l">
              <a:lnSpc>
                <a:spcPct val="115000"/>
              </a:lnSpc>
              <a:spcAft>
                <a:spcPts val="400"/>
              </a:spcAft>
            </a:pPr>
            <a:r>
              <a:rPr sz="2000" b="1">
                <a:solidFill>
                  <a:srgbClr val="FFFFFF"/>
                </a:solidFill>
                <a:latin typeface="Yu Gothic"/>
              </a:rPr>
              <a:t>「難病 × 起業 × ファッション」── 一人の当事者の挑戦が、</a:t>
            </a:r>
          </a:p>
          <a:p>
            <a:pPr algn="l">
              <a:lnSpc>
                <a:spcPct val="115000"/>
              </a:lnSpc>
              <a:spcAft>
                <a:spcPts val="600"/>
              </a:spcAft>
            </a:pPr>
            <a:r>
              <a:rPr sz="2000" b="1">
                <a:solidFill>
                  <a:srgbClr val="F7C54C"/>
                </a:solidFill>
                <a:latin typeface="Yu Gothic"/>
              </a:rPr>
              <a:t>同じ悩みを抱える人と社会の意識を、少しずつ変えている。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365760"/>
          </a:xfrm>
          <a:prstGeom prst="rect">
            <a:avLst/>
          </a:prstGeom>
          <a:noFill/>
        </p:spPr>
        <p:txBody>
          <a:bodyPr wrap="square" anchor="t" lIns="0" rIns="0" tIns="0" bIns="0">
            <a:spAutoFit/>
          </a:bodyPr>
          <a:lstStyle/>
          <a:p>
            <a:pPr algn="l">
              <a:lnSpc>
                <a:spcPct val="115000"/>
              </a:lnSpc>
              <a:spcAft>
                <a:spcPts val="200"/>
              </a:spcAft>
            </a:pPr>
            <a:r>
              <a:rPr sz="1400" b="1">
                <a:solidFill>
                  <a:srgbClr val="F28C3B"/>
                </a:solidFill>
                <a:latin typeface="Yu Gothic"/>
              </a:rPr>
              <a:t>NOW &amp; NEXT</a:t>
            </a:r>
          </a:p>
        </p:txBody>
      </p:sp>
      <p:sp>
        <p:nvSpPr>
          <p:cNvPr id="4" name="TextBox 3"/>
          <p:cNvSpPr txBox="1"/>
          <p:nvPr/>
        </p:nvSpPr>
        <p:spPr>
          <a:xfrm>
            <a:off x="640080" y="713232"/>
            <a:ext cx="10789920" cy="868680"/>
          </a:xfrm>
          <a:prstGeom prst="rect">
            <a:avLst/>
          </a:prstGeom>
          <a:noFill/>
        </p:spPr>
        <p:txBody>
          <a:bodyPr wrap="square" anchor="t" lIns="0" rIns="0" tIns="0" bIns="0">
            <a:spAutoFit/>
          </a:bodyPr>
          <a:lstStyle/>
          <a:p>
            <a:pPr algn="l">
              <a:lnSpc>
                <a:spcPct val="115000"/>
              </a:lnSpc>
              <a:spcAft>
                <a:spcPts val="600"/>
              </a:spcAft>
            </a:pPr>
            <a:r>
              <a:rPr sz="3000" b="1">
                <a:solidFill>
                  <a:srgbClr val="1B2A4A"/>
                </a:solidFill>
                <a:latin typeface="Yu Gothic"/>
              </a:rPr>
              <a:t>現在、そしてこれから</a:t>
            </a:r>
          </a:p>
        </p:txBody>
      </p:sp>
      <p:sp>
        <p:nvSpPr>
          <p:cNvPr id="5" name="Rectangle 4"/>
          <p:cNvSpPr/>
          <p:nvPr/>
        </p:nvSpPr>
        <p:spPr>
          <a:xfrm>
            <a:off x="658368" y="1481328"/>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355080"/>
            <a:ext cx="640080" cy="365760"/>
          </a:xfrm>
          <a:prstGeom prst="rect">
            <a:avLst/>
          </a:prstGeom>
          <a:noFill/>
        </p:spPr>
        <p:txBody>
          <a:bodyPr wrap="square" anchor="t" lIns="0" rIns="0" tIns="0" bIns="0">
            <a:spAutoFit/>
          </a:bodyPr>
          <a:lstStyle/>
          <a:p>
            <a:pPr algn="r">
              <a:lnSpc>
                <a:spcPct val="115000"/>
              </a:lnSpc>
              <a:spcAft>
                <a:spcPts val="600"/>
              </a:spcAft>
            </a:pPr>
            <a:r>
              <a:rPr sz="1100" b="0">
                <a:solidFill>
                  <a:srgbClr val="5B6677"/>
                </a:solidFill>
                <a:latin typeface="Yu Gothic"/>
              </a:rPr>
              <a:t>10</a:t>
            </a:r>
          </a:p>
        </p:txBody>
      </p:sp>
      <p:sp>
        <p:nvSpPr>
          <p:cNvPr id="7" name="TextBox 6"/>
          <p:cNvSpPr txBox="1"/>
          <p:nvPr/>
        </p:nvSpPr>
        <p:spPr>
          <a:xfrm>
            <a:off x="640080" y="1828800"/>
            <a:ext cx="11155680" cy="2377440"/>
          </a:xfrm>
          <a:prstGeom prst="rect">
            <a:avLst/>
          </a:prstGeom>
          <a:noFill/>
        </p:spPr>
        <p:txBody>
          <a:bodyPr wrap="square" anchor="t" lIns="0" rIns="0" tIns="0" bIns="0">
            <a:spAutoFit/>
          </a:bodyPr>
          <a:lstStyle/>
          <a:p>
            <a:pPr>
              <a:lnSpc>
                <a:spcPct val="120000"/>
              </a:lnSpc>
              <a:spcAft>
                <a:spcPts val="1400"/>
              </a:spcAft>
            </a:pPr>
            <a:r>
              <a:rPr sz="1800" b="1">
                <a:solidFill>
                  <a:srgbClr val="F28C3B"/>
                </a:solidFill>
                <a:latin typeface="Yu Gothic"/>
              </a:rPr>
              <a:t>●  </a:t>
            </a:r>
            <a:r>
              <a:rPr sz="1800">
                <a:solidFill>
                  <a:srgbClr val="222A3A"/>
                </a:solidFill>
                <a:latin typeface="Yu Gothic"/>
              </a:rPr>
              <a:t>ブランド「HAYATO KURATA」のCEOとして事業を継続。</a:t>
            </a:r>
          </a:p>
          <a:p>
            <a:pPr>
              <a:lnSpc>
                <a:spcPct val="120000"/>
              </a:lnSpc>
              <a:spcAft>
                <a:spcPts val="1400"/>
              </a:spcAft>
            </a:pPr>
            <a:r>
              <a:rPr sz="1800" b="1">
                <a:solidFill>
                  <a:srgbClr val="F28C3B"/>
                </a:solidFill>
                <a:latin typeface="Yu Gothic"/>
              </a:rPr>
              <a:t>●  </a:t>
            </a:r>
            <a:r>
              <a:rPr sz="1800">
                <a:solidFill>
                  <a:srgbClr val="222A3A"/>
                </a:solidFill>
                <a:latin typeface="Yu Gothic"/>
              </a:rPr>
              <a:t>10代向けメディア／コミュニティ「Steenz」などでも活動を広げる。</a:t>
            </a:r>
          </a:p>
          <a:p>
            <a:pPr>
              <a:lnSpc>
                <a:spcPct val="120000"/>
              </a:lnSpc>
              <a:spcAft>
                <a:spcPts val="1400"/>
              </a:spcAft>
            </a:pPr>
            <a:r>
              <a:rPr sz="1800">
                <a:solidFill>
                  <a:srgbClr val="222A3A"/>
                </a:solidFill>
                <a:latin typeface="Yu Gothic"/>
              </a:rPr>
              <a:t>    事業開発・イベント・コミュニティ運営・SNS運用などに携わる。</a:t>
            </a:r>
          </a:p>
          <a:p>
            <a:pPr>
              <a:lnSpc>
                <a:spcPct val="120000"/>
              </a:lnSpc>
              <a:spcAft>
                <a:spcPts val="1400"/>
              </a:spcAft>
            </a:pPr>
            <a:r>
              <a:rPr sz="1800" b="1">
                <a:solidFill>
                  <a:srgbClr val="F28C3B"/>
                </a:solidFill>
                <a:latin typeface="Yu Gothic"/>
              </a:rPr>
              <a:t>●  </a:t>
            </a:r>
            <a:r>
              <a:rPr sz="1800">
                <a:solidFill>
                  <a:srgbClr val="222A3A"/>
                </a:solidFill>
                <a:latin typeface="Yu Gothic"/>
              </a:rPr>
              <a:t>同じ悩みを持つ人が前を向ける「選択肢」を増やし続けている。</a:t>
            </a:r>
          </a:p>
        </p:txBody>
      </p:sp>
      <p:sp>
        <p:nvSpPr>
          <p:cNvPr id="8" name="Rectangle 7"/>
          <p:cNvSpPr/>
          <p:nvPr/>
        </p:nvSpPr>
        <p:spPr>
          <a:xfrm>
            <a:off x="640080" y="4480560"/>
            <a:ext cx="10927080" cy="155448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617720"/>
            <a:ext cx="10241280" cy="1280160"/>
          </a:xfrm>
          <a:prstGeom prst="rect">
            <a:avLst/>
          </a:prstGeom>
          <a:noFill/>
        </p:spPr>
        <p:txBody>
          <a:bodyPr wrap="square" anchor="ctr" lIns="0" rIns="0" tIns="0" bIns="0">
            <a:spAutoFit/>
          </a:bodyPr>
          <a:lstStyle/>
          <a:p>
            <a:pPr algn="l">
              <a:lnSpc>
                <a:spcPct val="115000"/>
              </a:lnSpc>
              <a:spcAft>
                <a:spcPts val="400"/>
              </a:spcAft>
            </a:pPr>
            <a:r>
              <a:rPr sz="2600" b="1">
                <a:solidFill>
                  <a:srgbClr val="FFFFFF"/>
                </a:solidFill>
                <a:latin typeface="Yu Gothic"/>
              </a:rPr>
              <a:t>VISION ── 5年後には、世界へ。</a:t>
            </a:r>
          </a:p>
          <a:p>
            <a:pPr algn="l">
              <a:lnSpc>
                <a:spcPct val="115000"/>
              </a:lnSpc>
              <a:spcAft>
                <a:spcPts val="600"/>
              </a:spcAft>
            </a:pPr>
            <a:r>
              <a:rPr sz="1600" b="0">
                <a:solidFill>
                  <a:srgbClr val="FFFFFF"/>
                </a:solidFill>
                <a:latin typeface="Yu Gothic"/>
              </a:rPr>
              <a:t>紫外線に悩む世界中の人へ、太陽の下で自分らしくいられる選択肢を。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1B2A4A"/>
              </a:gs>
              <a:gs pos="100000">
                <a:srgbClr val="2E6FB5"/>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718304" y="914400"/>
            <a:ext cx="2743200" cy="2743200"/>
          </a:xfrm>
          <a:prstGeom prst="ellipse">
            <a:avLst/>
          </a:prstGeom>
          <a:solidFill>
            <a:srgbClr val="F7C54C">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1371600"/>
            <a:ext cx="1828800" cy="1828800"/>
          </a:xfrm>
          <a:prstGeom prst="ellipse">
            <a:avLst/>
          </a:prstGeom>
          <a:solidFill>
            <a:srgbClr val="F28C3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657600"/>
            <a:ext cx="10332720" cy="1280160"/>
          </a:xfrm>
          <a:prstGeom prst="rect">
            <a:avLst/>
          </a:prstGeom>
          <a:noFill/>
        </p:spPr>
        <p:txBody>
          <a:bodyPr wrap="square" anchor="t" lIns="0" rIns="0" tIns="0" bIns="0">
            <a:spAutoFit/>
          </a:bodyPr>
          <a:lstStyle/>
          <a:p>
            <a:pPr algn="ctr">
              <a:lnSpc>
                <a:spcPct val="115000"/>
              </a:lnSpc>
              <a:spcAft>
                <a:spcPts val="600"/>
              </a:spcAft>
            </a:pPr>
            <a:r>
              <a:rPr sz="3800" b="1">
                <a:solidFill>
                  <a:srgbClr val="FFFFFF"/>
                </a:solidFill>
                <a:latin typeface="Yu Gothic"/>
              </a:rPr>
              <a:t>弱さは、その人だけの色になる。</a:t>
            </a:r>
          </a:p>
        </p:txBody>
      </p:sp>
      <p:sp>
        <p:nvSpPr>
          <p:cNvPr id="6" name="TextBox 5"/>
          <p:cNvSpPr txBox="1"/>
          <p:nvPr/>
        </p:nvSpPr>
        <p:spPr>
          <a:xfrm>
            <a:off x="914400" y="4937760"/>
            <a:ext cx="10332720" cy="731520"/>
          </a:xfrm>
          <a:prstGeom prst="rect">
            <a:avLst/>
          </a:prstGeom>
          <a:noFill/>
        </p:spPr>
        <p:txBody>
          <a:bodyPr wrap="square" anchor="t" lIns="0" rIns="0" tIns="0" bIns="0">
            <a:spAutoFit/>
          </a:bodyPr>
          <a:lstStyle/>
          <a:p>
            <a:pPr algn="ctr">
              <a:lnSpc>
                <a:spcPct val="115000"/>
              </a:lnSpc>
              <a:spcAft>
                <a:spcPts val="600"/>
              </a:spcAft>
            </a:pPr>
            <a:r>
              <a:rPr sz="2000" b="1">
                <a:solidFill>
                  <a:srgbClr val="F7C54C"/>
                </a:solidFill>
                <a:latin typeface="Yu Gothic"/>
              </a:rPr>
              <a:t>倉田 速音 ／ HAYATO KURATA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058400" cy="640080"/>
          </a:xfrm>
          <a:prstGeom prst="rect">
            <a:avLst/>
          </a:prstGeom>
          <a:noFill/>
        </p:spPr>
        <p:txBody>
          <a:bodyPr wrap="square" anchor="t" lIns="0" rIns="0" tIns="0" bIns="0">
            <a:spAutoFit/>
          </a:bodyPr>
          <a:lstStyle/>
          <a:p>
            <a:pPr algn="l">
              <a:lnSpc>
                <a:spcPct val="115000"/>
              </a:lnSpc>
              <a:spcAft>
                <a:spcPts val="600"/>
              </a:spcAft>
            </a:pPr>
            <a:r>
              <a:rPr sz="2400" b="1">
                <a:solidFill>
                  <a:srgbClr val="1B2A4A"/>
                </a:solidFill>
                <a:latin typeface="Yu Gothic"/>
              </a:rPr>
              <a:t>出典・参考（ネット上の公開情報）</a:t>
            </a:r>
          </a:p>
        </p:txBody>
      </p:sp>
      <p:sp>
        <p:nvSpPr>
          <p:cNvPr id="4" name="Rectangle 3"/>
          <p:cNvSpPr/>
          <p:nvPr/>
        </p:nvSpPr>
        <p:spPr>
          <a:xfrm>
            <a:off x="658368" y="1234440"/>
            <a:ext cx="2194560" cy="38100"/>
          </a:xfrm>
          <a:prstGeom prst="rect">
            <a:avLst/>
          </a:prstGeom>
          <a:solidFill>
            <a:srgbClr val="F7C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572000"/>
          </a:xfrm>
          <a:prstGeom prst="rect">
            <a:avLst/>
          </a:prstGeom>
          <a:noFill/>
        </p:spPr>
        <p:txBody>
          <a:bodyPr wrap="square" anchor="t" lIns="0" rIns="0" tIns="0" bIns="0">
            <a:spAutoFit/>
          </a:bodyPr>
          <a:lstStyle/>
          <a:p>
            <a:pPr>
              <a:lnSpc>
                <a:spcPct val="120000"/>
              </a:lnSpc>
              <a:spcAft>
                <a:spcPts val="900"/>
              </a:spcAft>
            </a:pPr>
            <a:r>
              <a:rPr sz="1400">
                <a:solidFill>
                  <a:srgbClr val="5B6677"/>
                </a:solidFill>
                <a:latin typeface="Yu Gothic"/>
              </a:rPr>
              <a:t>・ FINDERS「Z世代の挑戦者たち（1）」 finders.me/articles.php?id=2706</a:t>
            </a:r>
          </a:p>
          <a:p>
            <a:pPr>
              <a:lnSpc>
                <a:spcPct val="120000"/>
              </a:lnSpc>
              <a:spcAft>
                <a:spcPts val="900"/>
              </a:spcAft>
            </a:pPr>
            <a:r>
              <a:rPr sz="1400">
                <a:solidFill>
                  <a:srgbClr val="5B6677"/>
                </a:solidFill>
                <a:latin typeface="Yu Gothic"/>
              </a:rPr>
              <a:t>・ 株式会社HAYATO KURATA プレスリリース（PR TIMES / value-press / @Press）</a:t>
            </a:r>
          </a:p>
          <a:p>
            <a:pPr>
              <a:lnSpc>
                <a:spcPct val="120000"/>
              </a:lnSpc>
              <a:spcAft>
                <a:spcPts val="900"/>
              </a:spcAft>
            </a:pPr>
            <a:r>
              <a:rPr sz="1400">
                <a:solidFill>
                  <a:srgbClr val="5B6677"/>
                </a:solidFill>
                <a:latin typeface="Yu Gothic"/>
              </a:rPr>
              <a:t>・ N高等学校 ニュース「起業部法人登記第3号誕生」 nnn.ed.jp</a:t>
            </a:r>
          </a:p>
          <a:p>
            <a:pPr>
              <a:lnSpc>
                <a:spcPct val="120000"/>
              </a:lnSpc>
              <a:spcAft>
                <a:spcPts val="900"/>
              </a:spcAft>
            </a:pPr>
            <a:r>
              <a:rPr sz="1400">
                <a:solidFill>
                  <a:srgbClr val="5B6677"/>
                </a:solidFill>
                <a:latin typeface="Yu Gothic"/>
              </a:rPr>
              <a:t>・ CAMPFIRE / GoodMorning クラウドファンディング camp-fire.jp/projects/344843</a:t>
            </a:r>
          </a:p>
          <a:p>
            <a:pPr>
              <a:lnSpc>
                <a:spcPct val="120000"/>
              </a:lnSpc>
              <a:spcAft>
                <a:spcPts val="900"/>
              </a:spcAft>
            </a:pPr>
            <a:r>
              <a:rPr sz="1400">
                <a:solidFill>
                  <a:srgbClr val="5B6677"/>
                </a:solidFill>
                <a:latin typeface="Yu Gothic"/>
              </a:rPr>
              <a:t>・ FASHION FRONTIER PROGRAM「ソラ時々グラデーション」 ffp.jp</a:t>
            </a:r>
          </a:p>
          <a:p>
            <a:pPr>
              <a:lnSpc>
                <a:spcPct val="120000"/>
              </a:lnSpc>
              <a:spcAft>
                <a:spcPts val="900"/>
              </a:spcAft>
            </a:pPr>
            <a:r>
              <a:rPr sz="1400">
                <a:solidFill>
                  <a:srgbClr val="5B6677"/>
                </a:solidFill>
                <a:latin typeface="Yu Gothic"/>
              </a:rPr>
              <a:t>・ ストレートプレス「紫外線で色が変わる服」 straightpress.jp</a:t>
            </a:r>
          </a:p>
          <a:p>
            <a:pPr>
              <a:lnSpc>
                <a:spcPct val="120000"/>
              </a:lnSpc>
              <a:spcAft>
                <a:spcPts val="900"/>
              </a:spcAft>
            </a:pPr>
            <a:r>
              <a:rPr sz="1400">
                <a:solidFill>
                  <a:srgbClr val="5B6677"/>
                </a:solidFill>
                <a:latin typeface="Yu Gothic"/>
              </a:rPr>
              <a:t>・ MAKERS UNIVERSITY U-18 インタビュー u-18.makers-u.jp</a:t>
            </a:r>
          </a:p>
          <a:p>
            <a:pPr>
              <a:lnSpc>
                <a:spcPct val="120000"/>
              </a:lnSpc>
              <a:spcAft>
                <a:spcPts val="900"/>
              </a:spcAft>
            </a:pPr>
            <a:r>
              <a:rPr sz="1400">
                <a:solidFill>
                  <a:srgbClr val="5B6677"/>
                </a:solidFill>
                <a:latin typeface="Yu Gothic"/>
              </a:rPr>
              <a:t>・ テレビ東京「生きるを伝える」 tv-tokyo.co.jp/ikiru</a:t>
            </a:r>
          </a:p>
          <a:p>
            <a:pPr>
              <a:lnSpc>
                <a:spcPct val="120000"/>
              </a:lnSpc>
              <a:spcAft>
                <a:spcPts val="900"/>
              </a:spcAft>
            </a:pPr>
            <a:r>
              <a:rPr sz="1400">
                <a:solidFill>
                  <a:srgbClr val="5B6677"/>
                </a:solidFill>
                <a:latin typeface="Yu Gothic"/>
              </a:rPr>
              <a:t>・ 本人 lit.link / Instagram・X（@hayato_uv）</a:t>
            </a:r>
          </a:p>
        </p:txBody>
      </p:sp>
      <p:sp>
        <p:nvSpPr>
          <p:cNvPr id="6" name="TextBox 5"/>
          <p:cNvSpPr txBox="1"/>
          <p:nvPr/>
        </p:nvSpPr>
        <p:spPr>
          <a:xfrm>
            <a:off x="640080" y="6355080"/>
            <a:ext cx="10972800" cy="365760"/>
          </a:xfrm>
          <a:prstGeom prst="rect">
            <a:avLst/>
          </a:prstGeom>
          <a:noFill/>
        </p:spPr>
        <p:txBody>
          <a:bodyPr wrap="square" anchor="t" lIns="0" rIns="0" tIns="0" bIns="0">
            <a:spAutoFit/>
          </a:bodyPr>
          <a:lstStyle/>
          <a:p>
            <a:pPr algn="l">
              <a:lnSpc>
                <a:spcPct val="115000"/>
              </a:lnSpc>
              <a:spcAft>
                <a:spcPts val="600"/>
              </a:spcAft>
            </a:pPr>
            <a:r>
              <a:rPr sz="1100" b="0">
                <a:solidFill>
                  <a:srgbClr val="5B6677"/>
                </a:solidFill>
                <a:latin typeface="Yu Gothic"/>
              </a:rPr>
              <a:t>※ 公開情報を基にした紹介資料です。最新の活動状況は本人の各SNS等をご確認ください。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