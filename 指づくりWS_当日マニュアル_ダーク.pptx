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1600200"/>
            <a:ext cx="6858000" cy="6400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424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指づくりワークショップ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44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当日マニュアル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はじめてのスタッフ向け 完全ガイド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▸  ピエロ大好き人間（@I_LOVE_Clown）× Steenz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▸  自分の指の複製キーホルダーづくり ワークショップ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▸  このスライドを読めば、はじめてでも当日動けます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35508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⚠  </a:t>
            </a:r>
            <a:r>
              <a:rPr sz="14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迷ったら「進行統括」に聞けばOK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このイベントって何をするの？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指キーホルダーづくりの体験WS ＋ イラスト・作品の物販を行う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当日マニュアル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11679"/>
            <a:ext cx="2407843" cy="17373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331720"/>
            <a:ext cx="2407843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3,000円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72968"/>
            <a:ext cx="24078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WS 1回の料金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50843" y="2011679"/>
            <a:ext cx="2407843" cy="17373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50843" y="2331720"/>
            <a:ext cx="2407843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約20分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843" y="3172968"/>
            <a:ext cx="24078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所要時間の目安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2011679"/>
            <a:ext cx="2407843" cy="17373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3007" y="2331720"/>
            <a:ext cx="2407843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最大6席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3007" y="3172968"/>
            <a:ext cx="24078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場所により変動・6席で十分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171" y="2011679"/>
            <a:ext cx="2407843" cy="17373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171" y="2331720"/>
            <a:ext cx="2407843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現金・PayPay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172968"/>
            <a:ext cx="24078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カード不可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023360"/>
            <a:ext cx="10454335" cy="178308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18795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スタッフのメイン業務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663440"/>
            <a:ext cx="98142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① </a:t>
            </a: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ワークショップの運営</a:t>
            </a:r>
            <a:r>
              <a:rPr sz="14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（進行・受付）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② </a:t>
            </a: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物販対応</a:t>
            </a:r>
            <a:r>
              <a:rPr sz="14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（イラスト・作品の販売）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③ </a:t>
            </a: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お客さんへの声かけ・集客</a:t>
            </a:r>
            <a:r>
              <a:rPr sz="14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（手が空いたら大きな声で）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当日の1日の流れ（集合〜撤収）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10:00開場の場合の目安。実際の時刻は朝礼で共有します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当日マニュアル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3240938" cy="39319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3240938" cy="54864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93391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開場前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43200"/>
            <a:ext cx="273801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集合・点呼（証類を忘れずに）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搬入 → ブース設営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釣り銭・WS道具の準備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朝礼（最終ブリーフィング）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75378" y="1965960"/>
            <a:ext cx="3240938" cy="39319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75378" y="1965960"/>
            <a:ext cx="3240938" cy="54864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5378" y="1993391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開場中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9698" y="2743200"/>
            <a:ext cx="273801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接客・WS進行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物販・呼び込み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予約客を優先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昼休憩は交代で（同時はNG）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2076" y="1965960"/>
            <a:ext cx="3240938" cy="39319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82076" y="1965960"/>
            <a:ext cx="3240938" cy="54864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82076" y="1993391"/>
            <a:ext cx="324093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閉場後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6396" y="2743200"/>
            <a:ext cx="2738018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撤収・ブース掃除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売上集計（2人で）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搬出（レンタカー）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振り返り・解散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2/13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開場前にやること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開場までの準備の要点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当日マニュアル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10058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167128"/>
            <a:ext cx="362696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なるべくまとまって入場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バラバラだと時間がかかる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447" y="1965960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1965960"/>
            <a:ext cx="10058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13167" y="2167128"/>
            <a:ext cx="362696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設営は進行統括の指示で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勝手に動かない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474720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905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474720"/>
            <a:ext cx="10058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675887"/>
            <a:ext cx="362696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釣り銭3〜4万円を2人で確認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1人では数えない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447" y="3474720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3047" y="3474720"/>
            <a:ext cx="10058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3167" y="3675887"/>
            <a:ext cx="362696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PayPay用QRコードを設置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現金＋PayPayのみ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983479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983479"/>
            <a:ext cx="10058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5184647"/>
            <a:ext cx="362696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初参加スタッフは1回練習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通しで制作してみる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24447" y="4983479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3047" y="4983479"/>
            <a:ext cx="10058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13167" y="5184647"/>
            <a:ext cx="362696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朝礼で最終確認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役割・動線・休憩・緊急時・SNS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3/13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ワークショップの作り方①（材料・道具・席）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1人あたりに使う材料と道具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当日マニュアル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5212080" cy="39319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130552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1人分の材料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651760"/>
            <a:ext cx="4663440" cy="91440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2651760"/>
            <a:ext cx="42976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かたと〜る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型取り用（真空脱泡して使う）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675887"/>
            <a:ext cx="4663440" cy="91440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905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3675887"/>
            <a:ext cx="42976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エコフレックス35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A剤＋B剤を必ず同量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4700016"/>
            <a:ext cx="4663440" cy="91440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4700016"/>
            <a:ext cx="42976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クリップ＋チェーンボール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1セット（型に設置）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1965960"/>
            <a:ext cx="4876495" cy="22860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130552"/>
            <a:ext cx="4419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道具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606039"/>
            <a:ext cx="432785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・ 計量カップ／紙コップ（小）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・ 混ぜ棒（ハンドミキサー）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・ 真空脱泡機（かたと〜る用）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・ 爪楊枝／接着剤／タイマー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4434840"/>
            <a:ext cx="4876495" cy="14630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4599431"/>
            <a:ext cx="4419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席の運用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4983479"/>
            <a:ext cx="43278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最大6席</a:t>
            </a: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（場所・イベントで変動。6席以上は不要）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整理券でタイムスロット運用（並ばせず時間に戻ってもらう）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4/13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ワークショップの進め方（受付〜完成）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受付から完成まで6ステップ。アイスブレイクは挟まず進める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当日マニュアル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20239"/>
            <a:ext cx="3301898" cy="16916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103120"/>
            <a:ext cx="28446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①  </a:t>
            </a: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受付と誘導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70047"/>
            <a:ext cx="284469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普通に受付をして席へ誘導する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44898" y="1920239"/>
            <a:ext cx="3301898" cy="16916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3498" y="2103120"/>
            <a:ext cx="28446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②  </a:t>
            </a: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準備と検討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2670047"/>
            <a:ext cx="284469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スタッフがかたと〜る（型取り材）を準備／その間にお客さんはどの指で作るか考える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1116" y="1920239"/>
            <a:ext cx="3301898" cy="169164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905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9716" y="2103120"/>
            <a:ext cx="28446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③  </a:t>
            </a: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型取り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9716" y="2670047"/>
            <a:ext cx="284469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かたと〜るを真空脱泡機で気泡抜き → 容器に指を入れて型取り。どの指でもOK／同時2本は不可・1本ずつ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3776472"/>
            <a:ext cx="3301898" cy="16916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959352"/>
            <a:ext cx="28446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④  </a:t>
            </a: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成形（流し込み）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526280"/>
            <a:ext cx="284469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型が固まったら指を抜く → エコフレックスをA＋B同量で混ぜて型に流し込む（エコフレックスは脱泡しない）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4898" y="3776472"/>
            <a:ext cx="3301898" cy="169164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3498" y="3959352"/>
            <a:ext cx="28446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⑤  </a:t>
            </a: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仕上げ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3498" y="4526280"/>
            <a:ext cx="284469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クリップ＋チェーンボールを型に設置 → 硬化を待つ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1116" y="3776472"/>
            <a:ext cx="3301898" cy="169164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905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9716" y="3959352"/>
            <a:ext cx="28446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⑥  </a:t>
            </a: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完了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9716" y="4526280"/>
            <a:ext cx="284469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指（成形物）を取り出して完成。着色は行わない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632704"/>
            <a:ext cx="10454335" cy="54864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632704"/>
            <a:ext cx="1045433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最後にアンケートの案内をして終了。着色なし／同時に2本は不可 に注意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5/13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⚠ 安全・NG事項（必ず守る）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ここだけは絶対に守ること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当日マニュアル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9050">
            <a:solidFill>
              <a:srgbClr val="E6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822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67128"/>
            <a:ext cx="380984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アレルギー申告者はお断り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ラテックス・シリコン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24447" y="1965960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9050">
            <a:solidFill>
              <a:srgbClr val="E6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1965960"/>
            <a:ext cx="822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0287" y="2167128"/>
            <a:ext cx="380984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A剤・B剤は必ず同量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比率ミスは未硬化の原因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447287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447287"/>
            <a:ext cx="822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648456"/>
            <a:ext cx="380984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材料を皮膚に放置しない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長時間つけたままNG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447" y="3447287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3047" y="3447287"/>
            <a:ext cx="822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0287" y="3648456"/>
            <a:ext cx="380984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手順を勝手にアレンジしない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台本どおりに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928616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928616"/>
            <a:ext cx="822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129783"/>
            <a:ext cx="380984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動画撮影は許可を取ってから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参加者の同意必須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24447" y="4928616"/>
            <a:ext cx="4998567" cy="128016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53047" y="4928616"/>
            <a:ext cx="822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0287" y="5129783"/>
            <a:ext cx="3809847" cy="9143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苦手・不調の素振りは即中断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無理させない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6/13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接客・呼び込みトーク例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そのまま使える声かけのことば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当日マニュアル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11679"/>
            <a:ext cx="10454335" cy="132588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7280" y="2240279"/>
            <a:ext cx="2377440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67711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呼び込み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194560"/>
            <a:ext cx="7345375" cy="960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「ちょいグロな“自分の指のキーホルダー”作れまーす！」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「20分でできます！」　※通路を妨げない位置で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566159"/>
            <a:ext cx="10454335" cy="132588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3794759"/>
            <a:ext cx="2377440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22191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硬化待ちの会話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749039"/>
            <a:ext cx="7345375" cy="960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作家（@I_LOVE_Clown）の紹介、人気作の話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お客さんの指輪・ネイル・推し趣味から広げる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120640"/>
            <a:ext cx="10454335" cy="132588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5349240"/>
            <a:ext cx="2377440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376672"/>
            <a:ext cx="2377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会計時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5303520"/>
            <a:ext cx="7345375" cy="9601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「お支払いは現金かPayPayです（カード不可）」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「領収書いりますか？」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7/13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受付・会計のルール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お金まわりは特に慎重に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当日マニュアル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10454335" cy="155448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25400">
            <a:solidFill>
              <a:srgbClr val="E6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65960"/>
            <a:ext cx="10972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148839"/>
            <a:ext cx="880841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現金は最初と最後に Steenzスタッフ2人で確認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1人では絶対に数えない → 確認額は収益シートに記録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749039"/>
            <a:ext cx="4998567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749039"/>
            <a:ext cx="46328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受付は基本1名（残りはWS）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24447" y="3749039"/>
            <a:ext cx="4998567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3047" y="3749039"/>
            <a:ext cx="46328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お釣り3〜4万円（5,000円札も）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462272"/>
            <a:ext cx="4998567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46328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予約客を優先・当日枠は整理券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4447" y="4462272"/>
            <a:ext cx="4998567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3047" y="4462272"/>
            <a:ext cx="46328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売上は現金／電子別に即メモ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5175504"/>
            <a:ext cx="4998567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175504"/>
            <a:ext cx="46328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値引き・サービスは個人判断しない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4447" y="5175504"/>
            <a:ext cx="4998567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047" y="5175504"/>
            <a:ext cx="46328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▌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PayPay不調は現金切替を最優先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8/13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SNS・アンケートの案内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お見送り時にお願いすること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当日マニュアル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11679"/>
            <a:ext cx="4998567" cy="36576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2011679"/>
            <a:ext cx="4998567" cy="64008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039112"/>
            <a:ext cx="499856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SNS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880360"/>
            <a:ext cx="4358487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「Xに投稿いただけると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　作家が見にいきます」と案内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19" y="3749039"/>
            <a:ext cx="4358487" cy="54864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270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19" y="3749039"/>
            <a:ext cx="435848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#指キーホルダー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19" y="4434840"/>
            <a:ext cx="4358487" cy="54864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270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19" y="4434840"/>
            <a:ext cx="4358487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@I_LOVE_Clown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4447" y="2011679"/>
            <a:ext cx="4998567" cy="36576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4447" y="2011679"/>
            <a:ext cx="4998567" cy="640080"/>
          </a:xfrm>
          <a:prstGeom prst="roundRect">
            <a:avLst>
              <a:gd name="adj" fmla="val 12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4447" y="2039112"/>
            <a:ext cx="499856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アンケート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4487" y="2880360"/>
            <a:ext cx="4358487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▸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全イベント共通の1本（毎回作らない）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▸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印刷QRコードを見せて案内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▸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「1分で終わります！」とひと言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▸ </a:t>
            </a:r>
            <a:r>
              <a:rPr sz="14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強制はしない。答えてくれたらお礼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9/13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スタッフの基本ルール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参加前に必ず一読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当日マニュアル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4998567" cy="18288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43000" y="2221991"/>
            <a:ext cx="1371600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249424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服装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880360"/>
            <a:ext cx="43584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黒基調・汚れてもいい服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スカート一律禁止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スニーカー（終日立ち仕事）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4447" y="1965960"/>
            <a:ext cx="4998567" cy="18288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98767" y="2221991"/>
            <a:ext cx="1371600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98767" y="2249424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持ち物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487" y="2880360"/>
            <a:ext cx="43584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スマホ・モバイルバッテリー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飲み物・軽食・着替え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常備薬・絆創膏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023360"/>
            <a:ext cx="4998567" cy="18288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43000" y="4279392"/>
            <a:ext cx="1371600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4306824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連絡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19" y="4937760"/>
            <a:ext cx="43584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遅刻欠席は気づいた時点でLINE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朝が早い日は起きたら一言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調整は進行統括が対応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4447" y="4023360"/>
            <a:ext cx="4998567" cy="182880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98767" y="4279392"/>
            <a:ext cx="1371600" cy="502920"/>
          </a:xfrm>
          <a:prstGeom prst="roundRect">
            <a:avLst>
              <a:gd name="adj" fmla="val 18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98767" y="4306824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休憩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4487" y="4937760"/>
            <a:ext cx="43584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1人あたり合計1時間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全員同時はNG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・ </a:t>
            </a: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30分ずつずらして交代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10/13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お金のこと（報酬・交通費）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スタッフへの支払いについて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当日マニュアル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57400"/>
            <a:ext cx="4023360" cy="3291840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25400">
            <a:solidFill>
              <a:srgbClr val="B712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14600"/>
            <a:ext cx="40233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日給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40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14,000円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60520"/>
            <a:ext cx="4023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＋ 交通費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2057400"/>
            <a:ext cx="6019495" cy="9601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2194560"/>
            <a:ext cx="547085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受け取り方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イベント終了後に銀行振込（振込先は終了後に個別確認）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3154680"/>
            <a:ext cx="6019495" cy="9601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3291840"/>
            <a:ext cx="547085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交通費の精算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「外部協力者用 経費精算シート」に記入 → PDF化 → 渡邊さんへDM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4251960"/>
            <a:ext cx="6019495" cy="9601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4389120"/>
            <a:ext cx="547085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領収書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電車・バスは領収書不要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11/13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⚠ 緊急時対応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迷わず進行統括へエスカレーション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当日マニュアル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11679"/>
            <a:ext cx="10454335" cy="566928"/>
          </a:xfrm>
          <a:prstGeom prst="roundRect">
            <a:avLst>
              <a:gd name="adj" fmla="val 6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011679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状況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011679"/>
            <a:ext cx="67967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対応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651759"/>
            <a:ext cx="10454335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651759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体調不良（軽度）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651759"/>
            <a:ext cx="67967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WS中断・休憩・水分。回復しなければ救護室へ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291839"/>
            <a:ext cx="10454335" cy="566928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9050">
            <a:solidFill>
              <a:srgbClr val="E6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291839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体調不良（重度・出血）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291839"/>
            <a:ext cx="67967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救護室に即連絡、119の判断は早めに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3931920"/>
            <a:ext cx="10454335" cy="566928"/>
          </a:xfrm>
          <a:prstGeom prst="roundRect">
            <a:avLst>
              <a:gd name="adj" fmla="val 9000"/>
            </a:avLst>
          </a:prstGeom>
          <a:solidFill>
            <a:srgbClr val="1E1E23"/>
          </a:solidFill>
          <a:ln w="19050">
            <a:solidFill>
              <a:srgbClr val="E6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931920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アレルギー反応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931920"/>
            <a:ext cx="67967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WS即中断・材料除去・救護室・LINE共有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572000"/>
            <a:ext cx="10454335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572000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PayPay不調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572000"/>
            <a:ext cx="67967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現金切替を最優先（復旧は後回し）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5212080"/>
            <a:ext cx="10454335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5212080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釣り銭切れ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212080"/>
            <a:ext cx="67967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近隣ATM・両替所へ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5852160"/>
            <a:ext cx="10454335" cy="566928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852160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クレーム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5852160"/>
            <a:ext cx="67967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その場で謝罪 → 進行統括へ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12/13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80160"/>
            <a:ext cx="12191695" cy="41148"/>
          </a:xfrm>
          <a:prstGeom prst="rect">
            <a:avLst/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7160"/>
            <a:ext cx="13716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800" b="1">
                <a:solidFill>
                  <a:srgbClr val="B7121C"/>
                </a:solidFill>
                <a:latin typeface="Yu Gothic UI"/>
                <a:ea typeface="Yu Gothic UI"/>
                <a:cs typeface="Yu Gothic U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37160"/>
            <a:ext cx="9875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持ち物チェックリスト ＆ まとめ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1732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搬入前の最終チェック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446520"/>
            <a:ext cx="8229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指づくりWS 当日マニュアル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965960"/>
            <a:ext cx="2407843" cy="30175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1965960"/>
            <a:ext cx="2407843" cy="502920"/>
          </a:xfrm>
          <a:prstGeom prst="roundRect">
            <a:avLst>
              <a:gd name="adj" fmla="val 14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93391"/>
            <a:ext cx="24078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WS用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51760"/>
            <a:ext cx="204208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材料一式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道具一式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見本サンプル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アレルギー確認用紙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タイマー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50843" y="1965960"/>
            <a:ext cx="2407843" cy="30175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50843" y="1965960"/>
            <a:ext cx="2407843" cy="502920"/>
          </a:xfrm>
          <a:prstGeom prst="roundRect">
            <a:avLst>
              <a:gd name="adj" fmla="val 14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0843" y="1993391"/>
            <a:ext cx="24078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ブース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9443" y="2651760"/>
            <a:ext cx="204208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出展者証・什器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看板・POP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整理券・QR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台車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ゴミ袋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965960"/>
            <a:ext cx="2407843" cy="30175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3007" y="1965960"/>
            <a:ext cx="2407843" cy="502920"/>
          </a:xfrm>
          <a:prstGeom prst="roundRect">
            <a:avLst>
              <a:gd name="adj" fmla="val 14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3007" y="1993391"/>
            <a:ext cx="24078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会計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7" y="2651760"/>
            <a:ext cx="204208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レジ箱・釣り銭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PayPay QR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予約表・受付表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領収書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売上メモ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171" y="1965960"/>
            <a:ext cx="2407843" cy="3017520"/>
          </a:xfrm>
          <a:prstGeom prst="roundRect">
            <a:avLst>
              <a:gd name="adj" fmla="val 9000"/>
            </a:avLst>
          </a:prstGeom>
          <a:solidFill>
            <a:srgbClr val="16161A"/>
          </a:solidFill>
          <a:ln w="12700">
            <a:solidFill>
              <a:srgbClr val="401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15171" y="1965960"/>
            <a:ext cx="2407843" cy="502920"/>
          </a:xfrm>
          <a:prstGeom prst="roundRect">
            <a:avLst>
              <a:gd name="adj" fmla="val 14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171" y="1993391"/>
            <a:ext cx="24078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個人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771" y="2651760"/>
            <a:ext cx="204208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スマホ・充電器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着替え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飲み物・軽食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E61A1A"/>
                </a:solidFill>
                <a:latin typeface="Yu Gothic UI"/>
                <a:ea typeface="Yu Gothic UI"/>
                <a:cs typeface="Yu Gothic UI"/>
              </a:rPr>
              <a:t>□ </a:t>
            </a:r>
            <a:r>
              <a:rPr sz="1300" b="0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常備薬・絆創膏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5212079"/>
            <a:ext cx="10454335" cy="731520"/>
          </a:xfrm>
          <a:prstGeom prst="roundRect">
            <a:avLst>
              <a:gd name="adj" fmla="val 10000"/>
            </a:avLst>
          </a:prstGeom>
          <a:solidFill>
            <a:srgbClr val="B71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212079"/>
            <a:ext cx="1045433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ECECEC"/>
                </a:solidFill>
                <a:latin typeface="Yu Gothic UI"/>
                <a:ea typeface="Yu Gothic UI"/>
                <a:cs typeface="Yu Gothic UI"/>
              </a:rPr>
              <a:t>困ったら・迷ったら、すべて進行統括へ。今日もよろしくお願いします！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44652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>
                <a:solidFill>
                  <a:srgbClr val="9A9A9E"/>
                </a:solidFill>
                <a:latin typeface="Yu Gothic UI"/>
                <a:ea typeface="Yu Gothic UI"/>
                <a:cs typeface="Yu Gothic UI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